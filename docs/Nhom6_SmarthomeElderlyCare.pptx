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3" r:id="rId1"/>
  </p:sldMasterIdLst>
  <p:notesMasterIdLst>
    <p:notesMasterId r:id="rId17"/>
  </p:notesMasterIdLst>
  <p:sldIdLst>
    <p:sldId id="790" r:id="rId2"/>
    <p:sldId id="791" r:id="rId3"/>
    <p:sldId id="792" r:id="rId4"/>
    <p:sldId id="793" r:id="rId5"/>
    <p:sldId id="795" r:id="rId6"/>
    <p:sldId id="794" r:id="rId7"/>
    <p:sldId id="796" r:id="rId8"/>
    <p:sldId id="801" r:id="rId9"/>
    <p:sldId id="807" r:id="rId10"/>
    <p:sldId id="798" r:id="rId11"/>
    <p:sldId id="802" r:id="rId12"/>
    <p:sldId id="804" r:id="rId13"/>
    <p:sldId id="805" r:id="rId14"/>
    <p:sldId id="806" r:id="rId15"/>
    <p:sldId id="788" r:id="rId16"/>
  </p:sldIdLst>
  <p:sldSz cx="9902825" cy="6858000"/>
  <p:notesSz cx="6858000" cy="9144000"/>
  <p:embeddedFontLst>
    <p:embeddedFont>
      <p:font typeface="Malgun Gothic" panose="020B0503020000020004" pitchFamily="34" charset="-127"/>
      <p:regular r:id="rId18"/>
      <p:bold r:id="rId19"/>
    </p:embeddedFont>
    <p:embeddedFont>
      <p:font typeface="Samsung Sharp Sans" panose="020B0604020202020204" charset="0"/>
      <p:bold r:id="rId20"/>
    </p:embeddedFont>
    <p:embeddedFont>
      <p:font typeface="SamsungOne 400C" panose="020B0506030303020204" charset="0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1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  <a:srgbClr val="FFB546"/>
    <a:srgbClr val="FF4337"/>
    <a:srgbClr val="00B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3" autoAdjust="0"/>
    <p:restoredTop sz="72205" autoAdjust="0"/>
  </p:normalViewPr>
  <p:slideViewPr>
    <p:cSldViewPr snapToGrid="0">
      <p:cViewPr varScale="1">
        <p:scale>
          <a:sx n="66" d="100"/>
          <a:sy n="66" d="100"/>
        </p:scale>
        <p:origin x="1124" y="44"/>
      </p:cViewPr>
      <p:guideLst>
        <p:guide pos="3119"/>
        <p:guide orient="horz"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57C17-E6FD-4AF5-A787-31E9CCE99A85}" type="datetimeFigureOut">
              <a:rPr lang="ko-KR" altLang="en-US" smtClean="0"/>
              <a:t>2026-09-13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C55F-00F1-4985-9065-F2D92AE05D0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125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 Bold" pitchFamily="2" charset="0"/>
                <a:cs typeface="Times New Roman" panose="02020603050405020304" pitchFamily="18" charset="0"/>
              </a:rPr>
              <a:t>Samsung Innovation Campus</a:t>
            </a:r>
          </a:p>
        </p:txBody>
      </p:sp>
      <p:sp>
        <p:nvSpPr>
          <p:cNvPr id="15" name="슬라이드 번호 개체 틀 15">
            <a:extLst>
              <a:ext uri="{FF2B5EF4-FFF2-40B4-BE49-F238E27FC236}">
                <a16:creationId xmlns:a16="http://schemas.microsoft.com/office/drawing/2014/main" id="{CCEC8F59-794B-4743-A6D7-1BC9720006CB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 Medium" pitchFamily="2" charset="0"/>
                <a:cs typeface="Times New Roman" panose="02020603050405020304" pitchFamily="18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956667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>
              <a:latin typeface="Times New Roman" panose="02020603050405020304" pitchFamily="18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  <p:sp>
        <p:nvSpPr>
          <p:cNvPr id="7" name="직사각형 133">
            <a:extLst>
              <a:ext uri="{FF2B5EF4-FFF2-40B4-BE49-F238E27FC236}">
                <a16:creationId xmlns:a16="http://schemas.microsoft.com/office/drawing/2014/main" id="{DE8CAD59-3F29-4FBB-AE0A-697DDFD5E69E}"/>
              </a:ext>
            </a:extLst>
          </p:cNvPr>
          <p:cNvSpPr/>
          <p:nvPr userDrawn="1"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914400" latinLnBrk="1">
              <a:defRPr/>
            </a:pPr>
            <a:r>
              <a:rPr lang="en-US" altLang="ko-KR" sz="24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Internet</a:t>
            </a:r>
            <a:r>
              <a:rPr lang="en-US" altLang="ko-KR" sz="2400" baseline="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 of Things Course</a:t>
            </a:r>
            <a:endParaRPr lang="ko-KR" altLang="en-US" sz="24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149771-D78D-40D7-8B97-564358008D8D}"/>
              </a:ext>
            </a:extLst>
          </p:cNvPr>
          <p:cNvSpPr/>
          <p:nvPr userDrawn="1"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텍스트 개체 틀 18">
            <a:extLst>
              <a:ext uri="{FF2B5EF4-FFF2-40B4-BE49-F238E27FC236}">
                <a16:creationId xmlns:a16="http://schemas.microsoft.com/office/drawing/2014/main" id="{02AC410D-7805-4DA9-915F-991D726861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  <p:sp>
        <p:nvSpPr>
          <p:cNvPr id="12" name="제목 2">
            <a:extLst>
              <a:ext uri="{FF2B5EF4-FFF2-40B4-BE49-F238E27FC236}">
                <a16:creationId xmlns:a16="http://schemas.microsoft.com/office/drawing/2014/main" id="{44AF0917-EEBC-44C5-8BA6-F1CA2AFA4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8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229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 Bold" pitchFamily="2" charset="0"/>
                <a:cs typeface="Times New Roman" panose="02020603050405020304" pitchFamily="18" charset="0"/>
              </a:rPr>
              <a:t>Samsung Innovation Campus</a:t>
            </a:r>
          </a:p>
        </p:txBody>
      </p:sp>
      <p:sp>
        <p:nvSpPr>
          <p:cNvPr id="7" name="직사각형 133">
            <a:extLst>
              <a:ext uri="{FF2B5EF4-FFF2-40B4-BE49-F238E27FC236}">
                <a16:creationId xmlns:a16="http://schemas.microsoft.com/office/drawing/2014/main" id="{7A4BCBFF-5289-45FE-BA09-DFF42AF8A347}"/>
              </a:ext>
            </a:extLst>
          </p:cNvPr>
          <p:cNvSpPr/>
          <p:nvPr userDrawn="1"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200">
              <a:defRPr/>
            </a:pPr>
            <a:r>
              <a:rPr lang="en-US" altLang="ko-KR" sz="2100" dirty="0" err="1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IoT</a:t>
            </a:r>
            <a:r>
              <a:rPr lang="en-US" altLang="ko-KR" sz="2100" baseline="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 </a:t>
            </a:r>
            <a:r>
              <a:rPr lang="en-US" altLang="ko-KR" sz="21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Course</a:t>
            </a:r>
            <a:endParaRPr lang="ko-KR" altLang="en-US" sz="21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A6CFBD-D9B3-4245-A68B-1D7EC1CB6F07}"/>
              </a:ext>
            </a:extLst>
          </p:cNvPr>
          <p:cNvSpPr/>
          <p:nvPr userDrawn="1"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2EB59A-603F-4715-ABA1-D9DF69D44512}"/>
              </a:ext>
            </a:extLst>
          </p:cNvPr>
          <p:cNvSpPr/>
          <p:nvPr userDrawn="1"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6BC111-C555-4B09-8375-33C4F4C2FB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400">
                <a:solidFill>
                  <a:schemeClr val="tx1"/>
                </a:solidFill>
                <a:latin typeface="Times New Roman" panose="02020603050405020304" pitchFamily="18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CBEAE583-0BAA-455B-9555-B00A4FE8B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31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 userDrawn="1">
          <p15:clr>
            <a:srgbClr val="FBAE40"/>
          </p15:clr>
        </p15:guide>
        <p15:guide id="2" pos="443" userDrawn="1">
          <p15:clr>
            <a:srgbClr val="FBAE40"/>
          </p15:clr>
        </p15:guide>
        <p15:guide id="3" pos="5955">
          <p15:clr>
            <a:srgbClr val="FBAE40"/>
          </p15:clr>
        </p15:guide>
        <p15:guide id="4" pos="6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 Bold" pitchFamily="2" charset="0"/>
                <a:cs typeface="Times New Roman" panose="02020603050405020304" pitchFamily="18" charset="0"/>
              </a:rPr>
              <a:t>Samsung Innovation Campus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25E1FE-2B04-4D8E-A51A-6B9CEC7B3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spcBef>
                <a:spcPts val="0"/>
              </a:spcBef>
              <a:defRPr lang="ko-KR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Slide Title</a:t>
            </a:r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DFEC8C6A-D95C-4B3C-9803-6F9071BF0C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defTabSz="457050" latinLnBrk="0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6DA22BCA-E7E2-4377-AD8E-AC1336C3DB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defTabSz="457050" latinLnBrk="0"/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21" name="텍스트 개체 틀 18">
            <a:extLst>
              <a:ext uri="{FF2B5EF4-FFF2-40B4-BE49-F238E27FC236}">
                <a16:creationId xmlns:a16="http://schemas.microsoft.com/office/drawing/2014/main" id="{7647BD6A-5F13-45AE-859C-AF2BA0A739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12825" y="480779"/>
            <a:ext cx="34062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algn="r" defTabSz="457063" latinLnBrk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3" name="텍스트 개체 틀 18">
            <a:extLst>
              <a:ext uri="{FF2B5EF4-FFF2-40B4-BE49-F238E27FC236}">
                <a16:creationId xmlns:a16="http://schemas.microsoft.com/office/drawing/2014/main" id="{3A9667F7-80AD-4A7A-8543-285975B06B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0667" y="480779"/>
            <a:ext cx="467850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defTabSz="457050" latinLnBrk="0"/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B6D584F0-F100-4FB4-B935-0E81DB1D3B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</p:spPr>
        <p:txBody>
          <a:bodyPr lIns="0" tIns="0" rIns="0" bIns="0"/>
          <a:lstStyle>
            <a:lvl1pPr marL="177747" indent="-177747">
              <a:lnSpc>
                <a:spcPts val="1800"/>
              </a:lnSpc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SamsungOne 400" panose="020B0503030303020204" pitchFamily="34" charset="0"/>
                <a:cs typeface="+mn-cs"/>
              </a:defRPr>
            </a:lvl1pPr>
            <a:lvl2pPr marL="360255" indent="-182508">
              <a:lnSpc>
                <a:spcPts val="1800"/>
              </a:lnSpc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SamsungOne 400" panose="020B0503030303020204" pitchFamily="34" charset="0"/>
                <a:cs typeface="+mn-cs"/>
              </a:defRPr>
            </a:lvl2pPr>
          </a:lstStyle>
          <a:p>
            <a:pPr lvl="0"/>
            <a:r>
              <a:rPr lang="en-US" altLang="ko-KR" dirty="0"/>
              <a:t>Level1</a:t>
            </a:r>
          </a:p>
          <a:p>
            <a:pPr lvl="1"/>
            <a:r>
              <a:rPr lang="en-US" altLang="ko-KR" dirty="0"/>
              <a:t>Level2</a:t>
            </a:r>
          </a:p>
          <a:p>
            <a:pPr lvl="1"/>
            <a:endParaRPr lang="en-US" altLang="ko-KR" dirty="0"/>
          </a:p>
          <a:p>
            <a:pPr marL="628461" lvl="1" indent="-207901" algn="l" defTabSz="843830" rtl="0" eaLnBrk="1" latinLnBrk="1" hangingPunct="1">
              <a:lnSpc>
                <a:spcPct val="90000"/>
              </a:lnSpc>
              <a:spcBef>
                <a:spcPts val="462"/>
              </a:spcBef>
              <a:buSzPct val="90000"/>
              <a:buFontTx/>
              <a:buBlip>
                <a:blip r:embed="rId5"/>
              </a:buBlip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 Medium" pitchFamily="2" charset="0"/>
                <a:cs typeface="Times New Roman" panose="02020603050405020304" pitchFamily="18" charset="0"/>
              </a:rPr>
              <a:t>Smarthome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 Medium" pitchFamily="2" charset="0"/>
                <a:cs typeface="Times New Roman" panose="02020603050405020304" pitchFamily="18" charset="0"/>
              </a:rPr>
              <a:t> Elderly Care</a:t>
            </a:r>
          </a:p>
        </p:txBody>
      </p:sp>
    </p:spTree>
    <p:extLst>
      <p:ext uri="{BB962C8B-B14F-4D97-AF65-F5344CB8AC3E}">
        <p14:creationId xmlns:p14="http://schemas.microsoft.com/office/powerpoint/2010/main" val="310204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 userDrawn="1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 Bold" pitchFamily="2" charset="0"/>
                <a:cs typeface="Times New Roman" panose="02020603050405020304" pitchFamily="18" charset="0"/>
              </a:rPr>
              <a:t>Samsung Innovation Campus</a:t>
            </a:r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 Medium" pitchFamily="2" charset="0"/>
                <a:cs typeface="Times New Roman" panose="02020603050405020304" pitchFamily="18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3415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 Bold" pitchFamily="2" charset="0"/>
                <a:cs typeface="Times New Roman" panose="02020603050405020304" pitchFamily="18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1779621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 Bold" pitchFamily="2" charset="0"/>
                <a:cs typeface="Times New Roman" panose="02020603050405020304" pitchFamily="18" charset="0"/>
              </a:rPr>
              <a:t>Samsung Innovation Campus</a:t>
            </a:r>
          </a:p>
        </p:txBody>
      </p:sp>
      <p:sp>
        <p:nvSpPr>
          <p:cNvPr id="7" name="슬라이드 번호 개체 틀 15">
            <a:extLst>
              <a:ext uri="{FF2B5EF4-FFF2-40B4-BE49-F238E27FC236}">
                <a16:creationId xmlns:a16="http://schemas.microsoft.com/office/drawing/2014/main" id="{E75758B0-2429-4331-898E-5EEED60D4280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 Medium" pitchFamily="2" charset="0"/>
                <a:cs typeface="Times New Roman" panose="02020603050405020304" pitchFamily="18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942502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8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 Bold" pitchFamily="2" charset="0"/>
                <a:cs typeface="Times New Roman" panose="02020603050405020304" pitchFamily="18" charset="0"/>
              </a:rPr>
              <a:t>Samsung Innovation Campus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449468" y="900000"/>
            <a:ext cx="9000714" cy="0"/>
          </a:xfrm>
          <a:prstGeom prst="line">
            <a:avLst/>
          </a:prstGeom>
          <a:ln w="15875">
            <a:solidFill>
              <a:srgbClr val="092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5">
            <a:extLst>
              <a:ext uri="{FF2B5EF4-FFF2-40B4-BE49-F238E27FC236}">
                <a16:creationId xmlns:a16="http://schemas.microsoft.com/office/drawing/2014/main" id="{C5960DC7-D671-485D-92B0-FEED6CE658A3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msung Sharp Sans Medium" pitchFamily="2" charset="0"/>
                <a:cs typeface="Times New Roman" panose="02020603050405020304" pitchFamily="18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343950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">
            <a:extLst>
              <a:ext uri="{FF2B5EF4-FFF2-40B4-BE49-F238E27FC236}">
                <a16:creationId xmlns:a16="http://schemas.microsoft.com/office/drawing/2014/main" id="{C441AFAB-5BBF-465C-B7A8-FED86E6261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395"/>
            <a:ext cx="9899651" cy="6853605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9" dirty="0">
              <a:latin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2B242C-8600-47F0-98D5-6EA512C41BF2}"/>
              </a:ext>
            </a:extLst>
          </p:cNvPr>
          <p:cNvSpPr/>
          <p:nvPr userDrawn="1"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" panose="020B0503030303020204" pitchFamily="34" charset="0"/>
                <a:cs typeface="+mn-cs"/>
              </a:rPr>
              <a:t>ⓒ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2023 SAMSUNG. All rights reserved.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Samsung Electronics Corporate Citizenship Office holds the copyright of book.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This book is a literary property protected by copyright law so reprint and reproduction without permission are prohibited. 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pic>
        <p:nvPicPr>
          <p:cNvPr id="10" name="그림 3">
            <a:extLst>
              <a:ext uri="{FF2B5EF4-FFF2-40B4-BE49-F238E27FC236}">
                <a16:creationId xmlns:a16="http://schemas.microsoft.com/office/drawing/2014/main" id="{A977D3D7-ABF1-4BDD-B1E5-CCA79CC818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22" y="3022951"/>
            <a:ext cx="2476006" cy="812098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90568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83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od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>
              <a:latin typeface="Times New Roman" panose="02020603050405020304" pitchFamily="18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42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92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1" r:id="rId2"/>
    <p:sldLayoutId id="2147483685" r:id="rId3"/>
    <p:sldLayoutId id="2147483687" r:id="rId4"/>
    <p:sldLayoutId id="2147483694" r:id="rId5"/>
    <p:sldLayoutId id="2147483693" r:id="rId6"/>
    <p:sldLayoutId id="2147483686" r:id="rId7"/>
    <p:sldLayoutId id="2147483688" r:id="rId8"/>
    <p:sldLayoutId id="2147483689" r:id="rId9"/>
    <p:sldLayoutId id="2147483690" r:id="rId10"/>
  </p:sldLayoutIdLst>
  <p:txStyles>
    <p:titleStyle>
      <a:lvl1pPr algn="l" defTabSz="914126" rtl="0" eaLnBrk="1" latinLnBrk="1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ebp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18.webp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www.researchgate.net/publication/334247955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researchgate.net/publication/350935668" TargetMode="External"/><Relationship Id="rId5" Type="http://schemas.openxmlformats.org/officeDocument/2006/relationships/hyperlink" Target="https://github.com/ultralytics/ultralytics" TargetMode="External"/><Relationship Id="rId4" Type="http://schemas.openxmlformats.org/officeDocument/2006/relationships/hyperlink" Target="https://pmc.ncbi.nlm.nih.gov/articles/PMC13055178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BA57D5-7920-4C59-8990-1FDF22441F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1786819-9BFB-478D-BAE7-57DB1DEA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321347"/>
            <a:ext cx="7034471" cy="984885"/>
          </a:xfrm>
        </p:spPr>
        <p:txBody>
          <a:bodyPr/>
          <a:lstStyle/>
          <a:p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AI xây dựng hệ thống nhà thông minh cho người cao tuổi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>
            <a:extLst>
              <a:ext uri="{FF2B5EF4-FFF2-40B4-BE49-F238E27FC236}">
                <a16:creationId xmlns:a16="http://schemas.microsoft.com/office/drawing/2014/main" id="{1E42F3CA-E8F5-41D4-A677-F15543C46B01}"/>
              </a:ext>
            </a:extLst>
          </p:cNvPr>
          <p:cNvGrpSpPr/>
          <p:nvPr/>
        </p:nvGrpSpPr>
        <p:grpSpPr>
          <a:xfrm>
            <a:off x="710836" y="1892040"/>
            <a:ext cx="4379913" cy="924594"/>
            <a:chOff x="4181256" y="3224809"/>
            <a:chExt cx="4379913" cy="92459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EA224A4-F527-4CB0-B62E-359CBCD4E78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Unit 1.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Đặt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vấn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đề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và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tổng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quan</a:t>
              </a:r>
              <a:endPara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SamsungOne 700" panose="020B0803030303020204" pitchFamily="34" charset="0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5CBCEC-393B-4E62-A937-E41B3CD7A93E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76F31AB-CE0B-4C60-A822-96C574A8736B}"/>
                </a:ext>
              </a:extLst>
            </p:cNvPr>
            <p:cNvSpPr/>
            <p:nvPr/>
          </p:nvSpPr>
          <p:spPr>
            <a:xfrm>
              <a:off x="5160752" y="3641572"/>
              <a:ext cx="3400417" cy="5078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1.1.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Bối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cảnh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và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thực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trạng</a:t>
              </a:r>
              <a:endParaRPr lang="en-US" altLang="ko-KR" sz="1400" b="1" dirty="0">
                <a:solidFill>
                  <a:srgbClr val="193EB0"/>
                </a:solidFill>
                <a:latin typeface="Times New Roman" panose="02020603050405020304" pitchFamily="18" charset="0"/>
                <a:ea typeface="SamsungOne 700" panose="020B0803030303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1.2.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Tổng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quan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giải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pháp</a:t>
              </a:r>
              <a:endParaRPr lang="en-US" altLang="ko-KR" sz="1400" b="1" dirty="0">
                <a:solidFill>
                  <a:srgbClr val="193EB0"/>
                </a:solidFill>
                <a:latin typeface="Times New Roman" panose="02020603050405020304" pitchFamily="18" charset="0"/>
                <a:ea typeface="SamsungOne 400" panose="020B0503030303020204" pitchFamily="34" charset="0"/>
              </a:endParaRPr>
            </a:p>
          </p:txBody>
        </p:sp>
      </p:grpSp>
      <p:grpSp>
        <p:nvGrpSpPr>
          <p:cNvPr id="8" name="Group 1">
            <a:extLst>
              <a:ext uri="{FF2B5EF4-FFF2-40B4-BE49-F238E27FC236}">
                <a16:creationId xmlns:a16="http://schemas.microsoft.com/office/drawing/2014/main" id="{730BB671-9743-4819-9105-2FF86D4E0E36}"/>
              </a:ext>
            </a:extLst>
          </p:cNvPr>
          <p:cNvGrpSpPr/>
          <p:nvPr/>
        </p:nvGrpSpPr>
        <p:grpSpPr>
          <a:xfrm>
            <a:off x="710836" y="2955225"/>
            <a:ext cx="4379913" cy="1216982"/>
            <a:chOff x="4181256" y="3224809"/>
            <a:chExt cx="4379913" cy="1216982"/>
          </a:xfrm>
        </p:grpSpPr>
        <p:sp>
          <p:nvSpPr>
            <p:cNvPr id="9" name="직사각형 37">
              <a:extLst>
                <a:ext uri="{FF2B5EF4-FFF2-40B4-BE49-F238E27FC236}">
                  <a16:creationId xmlns:a16="http://schemas.microsoft.com/office/drawing/2014/main" id="{44B7DD30-17C5-4D7E-8AC2-EA4E01FBA36D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Unit 2.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Thiết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kế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hệ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thống</a:t>
              </a:r>
              <a:endPara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SamsungOne 700" panose="020B0803030303020204" pitchFamily="34" charset="0"/>
              </a:endParaRPr>
            </a:p>
          </p:txBody>
        </p:sp>
        <p:sp>
          <p:nvSpPr>
            <p:cNvPr id="10" name="직사각형 38">
              <a:extLst>
                <a:ext uri="{FF2B5EF4-FFF2-40B4-BE49-F238E27FC236}">
                  <a16:creationId xmlns:a16="http://schemas.microsoft.com/office/drawing/2014/main" id="{0544C2E7-AEB2-4C9F-BC7B-16A176B1A6CD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1" name="직사각형 39">
              <a:extLst>
                <a:ext uri="{FF2B5EF4-FFF2-40B4-BE49-F238E27FC236}">
                  <a16:creationId xmlns:a16="http://schemas.microsoft.com/office/drawing/2014/main" id="{8FF9FD52-A1FA-45F7-80A2-FC3AF69D82B2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2.1.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Kiến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trúc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hệ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thống</a:t>
              </a:r>
              <a:endParaRPr lang="en-US" altLang="ko-KR" sz="1400" b="1" dirty="0">
                <a:solidFill>
                  <a:srgbClr val="193EB0"/>
                </a:solidFill>
                <a:latin typeface="Times New Roman" panose="02020603050405020304" pitchFamily="18" charset="0"/>
                <a:ea typeface="SamsungOne 700" panose="020B0803030303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2.2.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Kiến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trúc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phần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mềm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&amp;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Truyền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thông</a:t>
              </a:r>
              <a:endParaRPr lang="en-US" altLang="ko-KR" sz="1400" b="1" dirty="0">
                <a:solidFill>
                  <a:srgbClr val="193EB0"/>
                </a:solidFill>
                <a:latin typeface="Times New Roman" panose="02020603050405020304" pitchFamily="18" charset="0"/>
                <a:ea typeface="SamsungOne 400" panose="020B0503030303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2.3.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Phát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triển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AI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cho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hệ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thống</a:t>
              </a:r>
              <a:endParaRPr lang="en-US" altLang="ko-KR" sz="1400" b="1" dirty="0">
                <a:solidFill>
                  <a:srgbClr val="193EB0"/>
                </a:solidFill>
                <a:latin typeface="Times New Roman" panose="02020603050405020304" pitchFamily="18" charset="0"/>
                <a:ea typeface="SamsungOne 400" panose="020B0503030303020204" pitchFamily="34" charset="0"/>
              </a:endParaRPr>
            </a:p>
          </p:txBody>
        </p:sp>
      </p:grpSp>
      <p:grpSp>
        <p:nvGrpSpPr>
          <p:cNvPr id="12" name="Group 1">
            <a:extLst>
              <a:ext uri="{FF2B5EF4-FFF2-40B4-BE49-F238E27FC236}">
                <a16:creationId xmlns:a16="http://schemas.microsoft.com/office/drawing/2014/main" id="{99E1C113-2E13-42D7-B0BA-4B851632AACF}"/>
              </a:ext>
            </a:extLst>
          </p:cNvPr>
          <p:cNvGrpSpPr/>
          <p:nvPr/>
        </p:nvGrpSpPr>
        <p:grpSpPr>
          <a:xfrm>
            <a:off x="710836" y="4310798"/>
            <a:ext cx="4379913" cy="1216982"/>
            <a:chOff x="4181256" y="3224809"/>
            <a:chExt cx="4379913" cy="1216982"/>
          </a:xfrm>
        </p:grpSpPr>
        <p:sp>
          <p:nvSpPr>
            <p:cNvPr id="13" name="직사각형 37">
              <a:extLst>
                <a:ext uri="{FF2B5EF4-FFF2-40B4-BE49-F238E27FC236}">
                  <a16:creationId xmlns:a16="http://schemas.microsoft.com/office/drawing/2014/main" id="{B347DB6E-48AB-4ECB-AF93-4C89FBDF147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Unit 3.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Kết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quả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và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hướng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phát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triển</a:t>
              </a:r>
              <a:endPara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SamsungOne 700" panose="020B0803030303020204" pitchFamily="34" charset="0"/>
              </a:endParaRPr>
            </a:p>
          </p:txBody>
        </p:sp>
        <p:sp>
          <p:nvSpPr>
            <p:cNvPr id="14" name="직사각형 38">
              <a:extLst>
                <a:ext uri="{FF2B5EF4-FFF2-40B4-BE49-F238E27FC236}">
                  <a16:creationId xmlns:a16="http://schemas.microsoft.com/office/drawing/2014/main" id="{0B90DCE9-673D-4E88-91C4-A7B10F5EEAE4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직사각형 39">
              <a:extLst>
                <a:ext uri="{FF2B5EF4-FFF2-40B4-BE49-F238E27FC236}">
                  <a16:creationId xmlns:a16="http://schemas.microsoft.com/office/drawing/2014/main" id="{2825410F-2C46-47C0-A8BD-61DC6D753D88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3.1.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Kết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quả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thực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700" panose="020B0803030303020204" pitchFamily="34" charset="0"/>
                </a:rPr>
                <a:t>nghiệm</a:t>
              </a:r>
              <a:endParaRPr lang="en-US" altLang="ko-KR" sz="1400" b="1" dirty="0">
                <a:solidFill>
                  <a:srgbClr val="193EB0"/>
                </a:solidFill>
                <a:latin typeface="Times New Roman" panose="02020603050405020304" pitchFamily="18" charset="0"/>
                <a:ea typeface="SamsungOne 700" panose="020B0803030303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3.2.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Kết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luận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&amp;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Hướng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phát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triển</a:t>
              </a:r>
              <a:endParaRPr lang="en-US" altLang="ko-KR" sz="1400" b="1" dirty="0">
                <a:solidFill>
                  <a:srgbClr val="193EB0"/>
                </a:solidFill>
                <a:latin typeface="Times New Roman" panose="02020603050405020304" pitchFamily="18" charset="0"/>
                <a:ea typeface="SamsungOne 400" panose="020B050303030302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3.3. Tài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liệu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tham</a:t>
              </a:r>
              <a:r>
                <a:rPr lang="en-US" altLang="ko-KR" sz="1400" b="1" dirty="0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 </a:t>
              </a:r>
              <a:r>
                <a:rPr lang="en-US" altLang="ko-KR" sz="1400" b="1" dirty="0" err="1">
                  <a:solidFill>
                    <a:srgbClr val="193EB0"/>
                  </a:solidFill>
                  <a:latin typeface="Times New Roman" panose="02020603050405020304" pitchFamily="18" charset="0"/>
                  <a:ea typeface="SamsungOne 400" panose="020B0503030303020204" pitchFamily="34" charset="0"/>
                </a:rPr>
                <a:t>khảo</a:t>
              </a:r>
              <a:endParaRPr lang="en-US" altLang="ko-KR" sz="1400" b="1" dirty="0">
                <a:solidFill>
                  <a:srgbClr val="193EB0"/>
                </a:solidFill>
                <a:latin typeface="Times New Roman" panose="02020603050405020304" pitchFamily="18" charset="0"/>
                <a:ea typeface="SamsungOne 400" panose="020B0503030303020204" pitchFamily="34" charset="0"/>
              </a:endParaRPr>
            </a:p>
          </p:txBody>
        </p:sp>
      </p:grpSp>
      <p:sp>
        <p:nvSpPr>
          <p:cNvPr id="16" name="직사각형 133">
            <a:extLst>
              <a:ext uri="{FF2B5EF4-FFF2-40B4-BE49-F238E27FC236}">
                <a16:creationId xmlns:a16="http://schemas.microsoft.com/office/drawing/2014/main" id="{71B9AA9E-B863-4155-9637-87088D8ED43A}"/>
              </a:ext>
            </a:extLst>
          </p:cNvPr>
          <p:cNvSpPr/>
          <p:nvPr/>
        </p:nvSpPr>
        <p:spPr>
          <a:xfrm>
            <a:off x="172356" y="247512"/>
            <a:ext cx="85083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AI xây dựng hệ thống nhà thông minh cho người cao tuổi</a:t>
            </a:r>
            <a:endParaRPr lang="en-US" altLang="ko-KR" sz="2400" dirty="0">
              <a:solidFill>
                <a:schemeClr val="bg1"/>
              </a:solidFill>
              <a:latin typeface="Times New Roman" panose="02020603050405020304" pitchFamily="18" charset="0"/>
              <a:ea typeface="Samsung Sharp Sans" pitchFamily="2" charset="0"/>
              <a:cs typeface="Samsung Sharp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47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>
                <a:latin typeface="Times New Roman" panose="02020603050405020304" pitchFamily="18" charset="0"/>
              </a:rPr>
              <a:t>1.1</a:t>
            </a:r>
            <a:endParaRPr lang="ko-KR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b="1" dirty="0" err="1"/>
              <a:t>Bối</a:t>
            </a:r>
            <a:r>
              <a:rPr lang="en-US" altLang="ko-KR" b="1" dirty="0"/>
              <a:t> </a:t>
            </a:r>
            <a:r>
              <a:rPr lang="en-US" altLang="ko-KR" b="1" dirty="0" err="1"/>
              <a:t>cảnh</a:t>
            </a:r>
            <a:r>
              <a:rPr lang="en-US" altLang="ko-KR" b="1" dirty="0"/>
              <a:t> </a:t>
            </a:r>
            <a:r>
              <a:rPr lang="en-US" altLang="ko-KR" b="1" dirty="0" err="1"/>
              <a:t>và</a:t>
            </a:r>
            <a:r>
              <a:rPr lang="en-US" altLang="ko-KR" b="1" dirty="0"/>
              <a:t> </a:t>
            </a:r>
            <a:r>
              <a:rPr lang="en-US" altLang="ko-KR" b="1" dirty="0" err="1"/>
              <a:t>thực</a:t>
            </a:r>
            <a:r>
              <a:rPr lang="en-US" altLang="ko-KR" b="1" dirty="0"/>
              <a:t> </a:t>
            </a:r>
            <a:r>
              <a:rPr lang="en-US" altLang="ko-KR" b="1" dirty="0" err="1"/>
              <a:t>trạng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40666" y="480779"/>
            <a:ext cx="555733" cy="492443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6013605-ED03-26F4-793E-14E45C0AD85D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449468" y="1466924"/>
            <a:ext cx="4429124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Xu hướng già hóa dân số đang diễn ra nhanh chóng, dẫn đến thực trạng nhiều người cao tuổi phải sống hoặc ở nhà một mình. </a:t>
            </a:r>
            <a:endParaRPr kumimoji="0" lang="en-US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lvl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800" dirty="0"/>
              <a:t>Tai nạn té ngã là nguyên nhân hàng đầu gây thương vong ở người cao tuổi nếu không được hỗ trợ kịp thời trong "khung giờ vàng".</a:t>
            </a:r>
            <a:endParaRPr lang="en-US" sz="1800" dirty="0"/>
          </a:p>
          <a:p>
            <a:pPr lvl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800" dirty="0"/>
              <a:t>Nhiều sự cố môi trường tiềm ẩn hậu quả nặng nề như rò rỉ khí </a:t>
            </a:r>
            <a:r>
              <a:rPr lang="vi-VN" sz="1800" dirty="0" err="1"/>
              <a:t>gas</a:t>
            </a:r>
            <a:r>
              <a:rPr lang="vi-VN" sz="1800" dirty="0"/>
              <a:t>, hỏa hoạn và thời tiết khắc nghiệt.</a:t>
            </a:r>
            <a:endParaRPr lang="en-US" sz="1800" dirty="0"/>
          </a:p>
          <a:p>
            <a:pPr lvl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800" dirty="0"/>
              <a:t>Người cao tuổi khi gặp sự cố đột ngột thường không thể tự tiếp cận điện thoại để báo tin cho người thân.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53FED4D-D1BF-3BFD-8293-77EFA5454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211" y="1406697"/>
            <a:ext cx="4315028" cy="458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6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45483-DB49-2789-487A-E57C40E8E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F8B65-0BEA-4BFB-AF81-E193AF841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468" y="450000"/>
            <a:ext cx="323896" cy="276871"/>
          </a:xfrm>
        </p:spPr>
        <p:txBody>
          <a:bodyPr/>
          <a:lstStyle/>
          <a:p>
            <a:r>
              <a:rPr lang="en-US" altLang="ko-KR" b="1" dirty="0">
                <a:latin typeface="Times New Roman" panose="02020603050405020304" pitchFamily="18" charset="0"/>
                <a:ea typeface="SamsungOne 400" panose="020B0503030303020204" charset="0"/>
              </a:rPr>
              <a:t>1.2</a:t>
            </a:r>
            <a:endParaRPr lang="ko-KR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CA0E2A-B044-8BC7-3067-AECAC0B317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b="1" dirty="0" err="1"/>
              <a:t>Tổng</a:t>
            </a:r>
            <a:r>
              <a:rPr lang="en-US" altLang="ko-KR" b="1" dirty="0"/>
              <a:t> </a:t>
            </a:r>
            <a:r>
              <a:rPr lang="en-US" altLang="ko-KR" b="1" dirty="0" err="1"/>
              <a:t>quan</a:t>
            </a:r>
            <a:r>
              <a:rPr lang="en-US" altLang="ko-KR" b="1" dirty="0"/>
              <a:t> </a:t>
            </a:r>
            <a:r>
              <a:rPr lang="en-US" altLang="ko-KR" b="1" dirty="0" err="1"/>
              <a:t>giải</a:t>
            </a:r>
            <a:r>
              <a:rPr lang="en-US" altLang="ko-KR" b="1" dirty="0"/>
              <a:t> </a:t>
            </a:r>
            <a:r>
              <a:rPr lang="en-US" altLang="ko-KR" b="1" dirty="0" err="1"/>
              <a:t>pháp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61A80A-3DE7-D998-63D9-CA2B9ED400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BBC61BD-7B44-76AA-C95F-24EAC8453D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40666" y="480779"/>
            <a:ext cx="576054" cy="492443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B8B537C-C836-BB45-94FF-4B88DB493C20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449468" y="1647327"/>
            <a:ext cx="4429124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800" dirty="0"/>
              <a:t>Xây dựng hệ thống </a:t>
            </a:r>
            <a:r>
              <a:rPr lang="vi-VN" sz="1800" dirty="0" err="1"/>
              <a:t>Smart</a:t>
            </a:r>
            <a:r>
              <a:rPr lang="vi-VN" sz="1800" dirty="0"/>
              <a:t> </a:t>
            </a:r>
            <a:r>
              <a:rPr lang="vi-VN" sz="1800" dirty="0" err="1"/>
              <a:t>Home</a:t>
            </a:r>
            <a:r>
              <a:rPr lang="vi-VN" sz="1800" dirty="0"/>
              <a:t> kết hợp </a:t>
            </a:r>
            <a:r>
              <a:rPr lang="vi-VN" sz="1800" dirty="0" err="1"/>
              <a:t>Camera</a:t>
            </a:r>
            <a:r>
              <a:rPr lang="vi-VN" sz="1800" dirty="0"/>
              <a:t> AI xử lý ảnh để tự động nhận diện hành vi té ngã. </a:t>
            </a:r>
            <a:endParaRPr lang="en-US" sz="1800" dirty="0"/>
          </a:p>
          <a:p>
            <a:pPr lvl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800" b="1" dirty="0"/>
              <a:t>Giám sát không xâm nhập:</a:t>
            </a:r>
            <a:r>
              <a:rPr lang="vi-VN" sz="1800" dirty="0"/>
              <a:t> Người dùng không cần đeo thiết bị ngoại vi vướng víu trên người. </a:t>
            </a:r>
            <a:endParaRPr lang="en-US" sz="1800" dirty="0"/>
          </a:p>
          <a:p>
            <a:pPr lvl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800" b="1" dirty="0"/>
              <a:t>Xử lý biên (</a:t>
            </a:r>
            <a:r>
              <a:rPr lang="vi-VN" sz="1800" b="1" dirty="0" err="1"/>
              <a:t>Edge</a:t>
            </a:r>
            <a:r>
              <a:rPr lang="vi-VN" sz="1800" b="1" dirty="0"/>
              <a:t> </a:t>
            </a:r>
            <a:r>
              <a:rPr lang="vi-VN" sz="1800" b="1" dirty="0" err="1"/>
              <a:t>Computing</a:t>
            </a:r>
            <a:r>
              <a:rPr lang="vi-VN" sz="1800" b="1" dirty="0"/>
              <a:t>):</a:t>
            </a:r>
            <a:r>
              <a:rPr lang="vi-VN" sz="1800" dirty="0"/>
              <a:t> AI chạy trực tiếp trên thiết bị </a:t>
            </a:r>
            <a:r>
              <a:rPr lang="vi-VN" sz="1800" dirty="0" err="1"/>
              <a:t>Raspberry</a:t>
            </a:r>
            <a:r>
              <a:rPr lang="vi-VN" sz="1800" dirty="0"/>
              <a:t> </a:t>
            </a:r>
            <a:r>
              <a:rPr lang="vi-VN" sz="1800" dirty="0" err="1"/>
              <a:t>Pi</a:t>
            </a:r>
            <a:r>
              <a:rPr lang="vi-VN" sz="1800" dirty="0"/>
              <a:t> tại nhà để bảo vệ quyền riêng tư, không truyền luồng </a:t>
            </a:r>
            <a:r>
              <a:rPr lang="vi-VN" sz="1800" dirty="0" err="1"/>
              <a:t>video</a:t>
            </a:r>
            <a:r>
              <a:rPr lang="vi-VN" sz="1800" dirty="0"/>
              <a:t> lên máy chủ đám mây. </a:t>
            </a:r>
            <a:endParaRPr lang="en-US" sz="1800" dirty="0"/>
          </a:p>
          <a:p>
            <a:pPr lvl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800" b="1" dirty="0"/>
              <a:t>Cảnh báo đa kênh tức thời:</a:t>
            </a:r>
            <a:r>
              <a:rPr lang="vi-VN" sz="1800" dirty="0"/>
              <a:t> Kích hoạt còi tại nhà, gửi tin nhắn khẩn cấp qua </a:t>
            </a:r>
            <a:r>
              <a:rPr lang="vi-VN" sz="1800" dirty="0" err="1"/>
              <a:t>Telegram</a:t>
            </a:r>
            <a:r>
              <a:rPr lang="vi-VN" sz="1800" dirty="0"/>
              <a:t> và hiển thị cảnh báo đỏ trên </a:t>
            </a:r>
            <a:r>
              <a:rPr lang="vi-VN" sz="1800" dirty="0" err="1"/>
              <a:t>Web</a:t>
            </a:r>
            <a:r>
              <a:rPr lang="vi-VN" sz="1800" dirty="0"/>
              <a:t> </a:t>
            </a:r>
            <a:r>
              <a:rPr lang="vi-VN" sz="1800" dirty="0" err="1"/>
              <a:t>App</a:t>
            </a:r>
            <a:r>
              <a:rPr lang="vi-VN" sz="1800" dirty="0"/>
              <a:t> </a:t>
            </a:r>
            <a:r>
              <a:rPr lang="vi-VN" sz="1800" dirty="0" err="1"/>
              <a:t>Dashboard</a:t>
            </a:r>
            <a:r>
              <a:rPr lang="vi-VN" sz="1800" dirty="0"/>
              <a:t>.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yolov8 pose跌倒检测 - 知乎">
            <a:extLst>
              <a:ext uri="{FF2B5EF4-FFF2-40B4-BE49-F238E27FC236}">
                <a16:creationId xmlns:a16="http://schemas.microsoft.com/office/drawing/2014/main" id="{0F97E399-46D3-216E-66A6-610FDAB23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412" y="1908440"/>
            <a:ext cx="4632655" cy="304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111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51F41-0F9E-D1CA-D9CF-174783B8B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0AABDB-82D1-063F-A10F-510D831754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468" y="450000"/>
            <a:ext cx="323896" cy="276871"/>
          </a:xfrm>
        </p:spPr>
        <p:txBody>
          <a:bodyPr/>
          <a:lstStyle/>
          <a:p>
            <a:r>
              <a:rPr lang="en-US" altLang="ko-KR" b="1" dirty="0">
                <a:latin typeface="Times New Roman" panose="02020603050405020304" pitchFamily="18" charset="0"/>
                <a:ea typeface="SamsungOne 400" panose="020B0503030303020204" charset="0"/>
              </a:rPr>
              <a:t>2.1</a:t>
            </a:r>
            <a:endParaRPr lang="ko-KR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1C9978-0B7F-371B-8A03-A68D80DCA1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b="1" dirty="0" err="1"/>
              <a:t>Kiến</a:t>
            </a:r>
            <a:r>
              <a:rPr lang="en-US" altLang="ko-KR" b="1" dirty="0"/>
              <a:t> </a:t>
            </a:r>
            <a:r>
              <a:rPr lang="en-US" altLang="ko-KR" b="1" dirty="0" err="1"/>
              <a:t>trúc</a:t>
            </a:r>
            <a:r>
              <a:rPr lang="en-US" altLang="ko-KR" b="1" dirty="0"/>
              <a:t> </a:t>
            </a:r>
            <a:r>
              <a:rPr lang="en-US" altLang="ko-KR" b="1" dirty="0" err="1"/>
              <a:t>hệ</a:t>
            </a:r>
            <a:r>
              <a:rPr lang="en-US" altLang="ko-KR" b="1" dirty="0"/>
              <a:t> </a:t>
            </a:r>
            <a:r>
              <a:rPr lang="en-US" altLang="ko-KR" b="1" dirty="0" err="1"/>
              <a:t>thống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0D1CC5-3818-97ED-13DA-868235A184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436E582-596C-9A5C-0A42-F96EDFB9B8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40666" y="480779"/>
            <a:ext cx="574783" cy="246221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64FC8B-BF37-6495-8FC7-878E663D2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96" y="1661937"/>
            <a:ext cx="4188941" cy="3733621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12BA3437-6D47-8C8F-EFB6-D3D082898151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5296946" y="5130726"/>
            <a:ext cx="4429124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/>
              <a:t>Tích hợp ESP32 thu thập dữ liệu môi trường liên tục (khí </a:t>
            </a:r>
            <a:r>
              <a:rPr lang="vi-VN" sz="1600" dirty="0" err="1"/>
              <a:t>gas</a:t>
            </a:r>
            <a:r>
              <a:rPr lang="vi-VN" sz="1600" dirty="0"/>
              <a:t> MQ-2, nhiệt độ/độ ẩm DHT11, chuyển động PIR). </a:t>
            </a:r>
            <a:endParaRPr lang="en-US" sz="1600" dirty="0"/>
          </a:p>
          <a:p>
            <a:pPr lvl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/>
              <a:t>Kích hoạt cơ cấu chấp hành (</a:t>
            </a:r>
            <a:r>
              <a:rPr lang="vi-VN" sz="1600" dirty="0" err="1"/>
              <a:t>Buzzer</a:t>
            </a:r>
            <a:r>
              <a:rPr lang="vi-VN" sz="1600" dirty="0"/>
              <a:t>, LED) để cảnh báo tức thời tại chỗ. </a:t>
            </a:r>
            <a:endParaRPr kumimoji="0" lang="vi-VN" altLang="vi-V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5500211-E9DF-8C40-83C0-32566193793B}"/>
              </a:ext>
            </a:extLst>
          </p:cNvPr>
          <p:cNvCxnSpPr>
            <a:cxnSpLocks/>
          </p:cNvCxnSpPr>
          <p:nvPr/>
        </p:nvCxnSpPr>
        <p:spPr>
          <a:xfrm>
            <a:off x="3230880" y="4500880"/>
            <a:ext cx="2066066" cy="980566"/>
          </a:xfrm>
          <a:prstGeom prst="bentConnector3">
            <a:avLst>
              <a:gd name="adj1" fmla="val 3819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6F8AB0F-0202-C071-0F61-E84A38539E07}"/>
              </a:ext>
            </a:extLst>
          </p:cNvPr>
          <p:cNvCxnSpPr/>
          <p:nvPr/>
        </p:nvCxnSpPr>
        <p:spPr>
          <a:xfrm flipV="1">
            <a:off x="3230880" y="1402080"/>
            <a:ext cx="2529840" cy="1351280"/>
          </a:xfrm>
          <a:prstGeom prst="bentConnector3">
            <a:avLst>
              <a:gd name="adj1" fmla="val 1867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Rectangle 1">
            <a:extLst>
              <a:ext uri="{FF2B5EF4-FFF2-40B4-BE49-F238E27FC236}">
                <a16:creationId xmlns:a16="http://schemas.microsoft.com/office/drawing/2014/main" id="{B9C49A08-000A-2D3F-752D-9E32347DC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0720" y="1068929"/>
            <a:ext cx="3965350" cy="152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b="1" dirty="0" err="1">
                <a:latin typeface="Times New Roman" panose="02020603050405020304" pitchFamily="18" charset="0"/>
              </a:rPr>
              <a:t>Web</a:t>
            </a:r>
            <a:r>
              <a:rPr lang="vi-VN" sz="1600" b="1" dirty="0">
                <a:latin typeface="Times New Roman" panose="02020603050405020304" pitchFamily="18" charset="0"/>
              </a:rPr>
              <a:t> </a:t>
            </a:r>
            <a:r>
              <a:rPr lang="vi-VN" sz="1600" b="1" dirty="0" err="1">
                <a:latin typeface="Times New Roman" panose="02020603050405020304" pitchFamily="18" charset="0"/>
              </a:rPr>
              <a:t>Dashboard</a:t>
            </a:r>
            <a:r>
              <a:rPr lang="vi-VN" sz="1600" b="1" dirty="0">
                <a:latin typeface="Times New Roman" panose="02020603050405020304" pitchFamily="18" charset="0"/>
              </a:rPr>
              <a:t>:</a:t>
            </a:r>
            <a:r>
              <a:rPr lang="vi-VN" sz="1600" dirty="0">
                <a:latin typeface="Times New Roman" panose="02020603050405020304" pitchFamily="18" charset="0"/>
              </a:rPr>
              <a:t> Trực quan hóa dữ liệu giám sát theo thời gian thực thông qua kết nối </a:t>
            </a:r>
            <a:r>
              <a:rPr lang="vi-VN" sz="1600" dirty="0" err="1">
                <a:latin typeface="Times New Roman" panose="02020603050405020304" pitchFamily="18" charset="0"/>
              </a:rPr>
              <a:t>WebSocket</a:t>
            </a:r>
            <a:r>
              <a:rPr lang="vi-VN" sz="1600" dirty="0">
                <a:latin typeface="Times New Roman" panose="02020603050405020304" pitchFamily="18" charset="0"/>
              </a:rPr>
              <a:t>. </a:t>
            </a:r>
            <a:endParaRPr lang="en-US" sz="1600" dirty="0">
              <a:latin typeface="Times New Roman" panose="02020603050405020304" pitchFamily="18" charset="0"/>
            </a:endParaRPr>
          </a:p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b="1" dirty="0" err="1">
                <a:latin typeface="Times New Roman" panose="02020603050405020304" pitchFamily="18" charset="0"/>
              </a:rPr>
              <a:t>Telegram</a:t>
            </a:r>
            <a:r>
              <a:rPr lang="vi-VN" sz="1600" b="1" dirty="0">
                <a:latin typeface="Times New Roman" panose="02020603050405020304" pitchFamily="18" charset="0"/>
              </a:rPr>
              <a:t> </a:t>
            </a:r>
            <a:r>
              <a:rPr lang="vi-VN" sz="1600" b="1" dirty="0" err="1">
                <a:latin typeface="Times New Roman" panose="02020603050405020304" pitchFamily="18" charset="0"/>
              </a:rPr>
              <a:t>Bot</a:t>
            </a:r>
            <a:r>
              <a:rPr lang="vi-VN" sz="1600" b="1" dirty="0">
                <a:latin typeface="Times New Roman" panose="02020603050405020304" pitchFamily="18" charset="0"/>
              </a:rPr>
              <a:t>:</a:t>
            </a:r>
            <a:r>
              <a:rPr lang="vi-VN" sz="1600" dirty="0">
                <a:latin typeface="Times New Roman" panose="02020603050405020304" pitchFamily="18" charset="0"/>
              </a:rPr>
              <a:t> Tự động đẩy thông báo khẩn cấp kèm ảnh chụp (</a:t>
            </a:r>
            <a:r>
              <a:rPr lang="vi-VN" sz="1600" dirty="0" err="1">
                <a:latin typeface="Times New Roman" panose="02020603050405020304" pitchFamily="18" charset="0"/>
              </a:rPr>
              <a:t>snapshot</a:t>
            </a:r>
            <a:r>
              <a:rPr lang="vi-VN" sz="1600" dirty="0">
                <a:latin typeface="Times New Roman" panose="02020603050405020304" pitchFamily="18" charset="0"/>
              </a:rPr>
              <a:t>) qua giao thức HTTPS.</a:t>
            </a:r>
            <a:endParaRPr kumimoji="0" lang="vi-VN" altLang="vi-V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9EF0F1F2-32BA-A19E-E34A-E09271FF0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223608"/>
            <a:ext cx="2529840" cy="1031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>
                <a:latin typeface="Times New Roman" panose="02020603050405020304" pitchFamily="18" charset="0"/>
              </a:rPr>
              <a:t>Sử dụng </a:t>
            </a:r>
            <a:r>
              <a:rPr lang="vi-VN" sz="1600" dirty="0" err="1">
                <a:latin typeface="Times New Roman" panose="02020603050405020304" pitchFamily="18" charset="0"/>
              </a:rPr>
              <a:t>MongoDB</a:t>
            </a:r>
            <a:r>
              <a:rPr lang="vi-VN" sz="1600" dirty="0">
                <a:latin typeface="Times New Roman" panose="02020603050405020304" pitchFamily="18" charset="0"/>
              </a:rPr>
              <a:t> để lưu trữ lịch sử thông số cảm biến và nhật ký sự cố khẩn cấp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0AFD43E-1A7E-E6BA-44B0-0B4249F8F25E}"/>
              </a:ext>
            </a:extLst>
          </p:cNvPr>
          <p:cNvCxnSpPr/>
          <p:nvPr/>
        </p:nvCxnSpPr>
        <p:spPr>
          <a:xfrm>
            <a:off x="4338320" y="3616960"/>
            <a:ext cx="3657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93C2604-3035-3B07-43EA-B0C30B277CED}"/>
              </a:ext>
            </a:extLst>
          </p:cNvPr>
          <p:cNvCxnSpPr>
            <a:cxnSpLocks/>
          </p:cNvCxnSpPr>
          <p:nvPr/>
        </p:nvCxnSpPr>
        <p:spPr>
          <a:xfrm flipV="1">
            <a:off x="3230880" y="3031812"/>
            <a:ext cx="3708400" cy="395493"/>
          </a:xfrm>
          <a:prstGeom prst="bentConnector3">
            <a:avLst>
              <a:gd name="adj1" fmla="val 534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6" name="Rectangle 1">
            <a:extLst>
              <a:ext uri="{FF2B5EF4-FFF2-40B4-BE49-F238E27FC236}">
                <a16:creationId xmlns:a16="http://schemas.microsoft.com/office/drawing/2014/main" id="{32E730A1-2792-DE26-F530-8F0B7FE90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143" y="2868568"/>
            <a:ext cx="2716441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 err="1">
                <a:latin typeface="Times New Roman" panose="02020603050405020304" pitchFamily="18" charset="0"/>
              </a:rPr>
              <a:t>Raspberry</a:t>
            </a:r>
            <a:r>
              <a:rPr lang="vi-VN" sz="1600" dirty="0">
                <a:latin typeface="Times New Roman" panose="02020603050405020304" pitchFamily="18" charset="0"/>
              </a:rPr>
              <a:t> </a:t>
            </a:r>
            <a:r>
              <a:rPr lang="vi-VN" sz="1600" dirty="0" err="1">
                <a:latin typeface="Times New Roman" panose="02020603050405020304" pitchFamily="18" charset="0"/>
              </a:rPr>
              <a:t>Pi</a:t>
            </a:r>
            <a:r>
              <a:rPr lang="vi-VN" sz="1600" dirty="0">
                <a:latin typeface="Times New Roman" panose="02020603050405020304" pitchFamily="18" charset="0"/>
              </a:rPr>
              <a:t> 5 đóng vai trò trung tâm điều phối dữ liệu qua giao thức </a:t>
            </a:r>
            <a:r>
              <a:rPr lang="vi-VN" sz="1600" dirty="0" err="1">
                <a:latin typeface="Times New Roman" panose="02020603050405020304" pitchFamily="18" charset="0"/>
              </a:rPr>
              <a:t>Wi-Fi</a:t>
            </a:r>
            <a:r>
              <a:rPr lang="vi-VN" sz="1600" dirty="0">
                <a:latin typeface="Times New Roman" panose="02020603050405020304" pitchFamily="18" charset="0"/>
              </a:rPr>
              <a:t>/MQTT.</a:t>
            </a:r>
            <a:endParaRPr lang="en-US" sz="1600" dirty="0">
              <a:latin typeface="Times New Roman" panose="02020603050405020304" pitchFamily="18" charset="0"/>
            </a:endParaRPr>
          </a:p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>
                <a:latin typeface="Times New Roman" panose="02020603050405020304" pitchFamily="18" charset="0"/>
              </a:rPr>
              <a:t>Vận hành mô hình </a:t>
            </a:r>
            <a:r>
              <a:rPr lang="vi-VN" sz="1600" dirty="0" err="1">
                <a:latin typeface="Times New Roman" panose="02020603050405020304" pitchFamily="18" charset="0"/>
              </a:rPr>
              <a:t>Edge</a:t>
            </a:r>
            <a:r>
              <a:rPr lang="vi-VN" sz="1600" dirty="0">
                <a:latin typeface="Times New Roman" panose="02020603050405020304" pitchFamily="18" charset="0"/>
              </a:rPr>
              <a:t> AI (YOLOv8-Pose) phát hiện té ngã trực tiếp tại biên, bảo mật quyền riêng tư (không truyền </a:t>
            </a:r>
            <a:r>
              <a:rPr lang="vi-VN" sz="1600" dirty="0" err="1">
                <a:latin typeface="Times New Roman" panose="02020603050405020304" pitchFamily="18" charset="0"/>
              </a:rPr>
              <a:t>video</a:t>
            </a:r>
            <a:r>
              <a:rPr lang="vi-VN" sz="1600" dirty="0">
                <a:latin typeface="Times New Roman" panose="02020603050405020304" pitchFamily="18" charset="0"/>
              </a:rPr>
              <a:t> lên </a:t>
            </a:r>
            <a:r>
              <a:rPr lang="vi-VN" sz="1600" dirty="0" err="1">
                <a:latin typeface="Times New Roman" panose="02020603050405020304" pitchFamily="18" charset="0"/>
              </a:rPr>
              <a:t>Cloud</a:t>
            </a:r>
            <a:r>
              <a:rPr lang="vi-VN" sz="1600" dirty="0">
                <a:latin typeface="Times New Roman" panose="02020603050405020304" pitchFamily="18" charset="0"/>
              </a:rPr>
              <a:t>). 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933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61815-F794-8755-6CD9-8A5D931C4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D0F872-259C-84B3-12A5-97705DFF7D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468" y="450000"/>
            <a:ext cx="323896" cy="276871"/>
          </a:xfrm>
        </p:spPr>
        <p:txBody>
          <a:bodyPr/>
          <a:lstStyle/>
          <a:p>
            <a:r>
              <a:rPr lang="en-US" altLang="ko-KR" b="1" dirty="0">
                <a:latin typeface="Times New Roman" panose="02020603050405020304" pitchFamily="18" charset="0"/>
                <a:ea typeface="SamsungOne 400" panose="020B0503030303020204" charset="0"/>
              </a:rPr>
              <a:t>2.2</a:t>
            </a:r>
            <a:endParaRPr lang="ko-KR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861BA5-0D8B-8D33-7DE7-B85972BBB9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b="1" dirty="0" err="1"/>
              <a:t>Kiến</a:t>
            </a:r>
            <a:r>
              <a:rPr lang="en-US" altLang="ko-KR" b="1" dirty="0"/>
              <a:t> </a:t>
            </a:r>
            <a:r>
              <a:rPr lang="en-US" altLang="ko-KR" b="1" dirty="0" err="1"/>
              <a:t>trúc</a:t>
            </a:r>
            <a:r>
              <a:rPr lang="en-US" altLang="ko-KR" b="1" dirty="0"/>
              <a:t> </a:t>
            </a:r>
            <a:r>
              <a:rPr lang="en-US" altLang="ko-KR" b="1" dirty="0" err="1"/>
              <a:t>phần</a:t>
            </a:r>
            <a:r>
              <a:rPr lang="en-US" altLang="ko-KR" b="1" dirty="0"/>
              <a:t> </a:t>
            </a:r>
            <a:r>
              <a:rPr lang="en-US" altLang="ko-KR" b="1" dirty="0" err="1"/>
              <a:t>mềm</a:t>
            </a:r>
            <a:r>
              <a:rPr lang="en-US" altLang="ko-KR" b="1" dirty="0"/>
              <a:t> &amp; </a:t>
            </a:r>
            <a:r>
              <a:rPr lang="en-US" altLang="ko-KR" b="1" dirty="0" err="1"/>
              <a:t>Truyền</a:t>
            </a:r>
            <a:r>
              <a:rPr lang="en-US" altLang="ko-KR" b="1" dirty="0"/>
              <a:t> </a:t>
            </a:r>
            <a:r>
              <a:rPr lang="en-US" altLang="ko-KR" b="1" dirty="0" err="1"/>
              <a:t>thông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6833E2-F3DB-3080-91B0-22B216F5F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3E57F9B-34DA-256F-EF99-05559C5A46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40666" y="480779"/>
            <a:ext cx="504933" cy="492443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pic>
        <p:nvPicPr>
          <p:cNvPr id="3074" name="Picture 2" descr="Introduction to MQTT: The protocol for IoT &amp; buildings">
            <a:extLst>
              <a:ext uri="{FF2B5EF4-FFF2-40B4-BE49-F238E27FC236}">
                <a16:creationId xmlns:a16="http://schemas.microsoft.com/office/drawing/2014/main" id="{D7267872-EF5E-43A9-6DCA-6BE7014BE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062" y="4002903"/>
            <a:ext cx="1988932" cy="170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Node-RED Client Editor - Ứng dụng trên Google Play">
            <a:extLst>
              <a:ext uri="{FF2B5EF4-FFF2-40B4-BE49-F238E27FC236}">
                <a16:creationId xmlns:a16="http://schemas.microsoft.com/office/drawing/2014/main" id="{AAA9EEB7-A18C-E2BB-25B1-3895BB44C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203" y="4110000"/>
            <a:ext cx="1597025" cy="159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ongoDB deepens Google Cloud partnership with new Atlas integrations">
            <a:extLst>
              <a:ext uri="{FF2B5EF4-FFF2-40B4-BE49-F238E27FC236}">
                <a16:creationId xmlns:a16="http://schemas.microsoft.com/office/drawing/2014/main" id="{8119936B-5978-B1F6-7853-0C0D3AFF7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937" y="4178971"/>
            <a:ext cx="2295419" cy="138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2500D1-F5CF-DAB6-86E1-B2B611E9AA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793" y="4248036"/>
            <a:ext cx="1859679" cy="1244267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A3487F7A-338A-67B0-A0F6-1F574F810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08612"/>
            <a:ext cx="1988932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6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7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>
                <a:latin typeface="Times New Roman" panose="02020603050405020304" pitchFamily="18" charset="0"/>
              </a:rPr>
              <a:t>Sử dụng giao thức MQTT siêu nhẹ, tiết kiệm băng thông.</a:t>
            </a:r>
            <a:endParaRPr lang="en-US" sz="1600" dirty="0">
              <a:latin typeface="Times New Roman" panose="02020603050405020304" pitchFamily="18" charset="0"/>
            </a:endParaRPr>
          </a:p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>
                <a:latin typeface="Times New Roman" panose="02020603050405020304" pitchFamily="18" charset="0"/>
              </a:rPr>
              <a:t>Đảm bảo tính thời gian thực (</a:t>
            </a:r>
            <a:r>
              <a:rPr lang="vi-VN" sz="1600" dirty="0" err="1">
                <a:latin typeface="Times New Roman" panose="02020603050405020304" pitchFamily="18" charset="0"/>
              </a:rPr>
              <a:t>Real-time</a:t>
            </a:r>
            <a:r>
              <a:rPr lang="vi-VN" sz="1600" dirty="0">
                <a:latin typeface="Times New Roman" panose="02020603050405020304" pitchFamily="18" charset="0"/>
              </a:rPr>
              <a:t>) với độ trễ phản hồi dưới 2 giây. 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E848700-FA2D-54DD-4F2B-21E8D598F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677" y="1535288"/>
            <a:ext cx="2108482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6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7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>
                <a:latin typeface="Times New Roman" panose="02020603050405020304" pitchFamily="18" charset="0"/>
              </a:rPr>
              <a:t>Quản lý cơ chế chống trùng lặp cảnh báo (</a:t>
            </a:r>
            <a:r>
              <a:rPr lang="vi-VN" sz="1600" dirty="0" err="1">
                <a:latin typeface="Times New Roman" panose="02020603050405020304" pitchFamily="18" charset="0"/>
              </a:rPr>
              <a:t>cooldown</a:t>
            </a:r>
            <a:r>
              <a:rPr lang="vi-VN" sz="1600" dirty="0">
                <a:latin typeface="Times New Roman" panose="02020603050405020304" pitchFamily="18" charset="0"/>
              </a:rPr>
              <a:t> 60 giây).</a:t>
            </a:r>
            <a:endParaRPr lang="en-US" sz="1600" dirty="0">
              <a:latin typeface="Times New Roman" panose="02020603050405020304" pitchFamily="18" charset="0"/>
            </a:endParaRPr>
          </a:p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>
                <a:latin typeface="Times New Roman" panose="02020603050405020304" pitchFamily="18" charset="0"/>
                <a:ea typeface="SamsungOne 400" panose="020B0503030303020204" charset="0"/>
              </a:rPr>
              <a:t>Phân loại sự kiện và điều phối gửi tin nhắn khẩn cấp (kèm ảnh </a:t>
            </a:r>
            <a:r>
              <a:rPr lang="vi-VN" sz="1600" dirty="0" err="1">
                <a:latin typeface="Times New Roman" panose="02020603050405020304" pitchFamily="18" charset="0"/>
                <a:ea typeface="SamsungOne 400" panose="020B0503030303020204" charset="0"/>
              </a:rPr>
              <a:t>snapshot</a:t>
            </a:r>
            <a:r>
              <a:rPr lang="vi-VN" sz="1600" dirty="0">
                <a:latin typeface="Times New Roman" panose="02020603050405020304" pitchFamily="18" charset="0"/>
                <a:ea typeface="SamsungOne 400" panose="020B0503030303020204" charset="0"/>
              </a:rPr>
              <a:t>) qua </a:t>
            </a:r>
            <a:r>
              <a:rPr lang="vi-VN" sz="1600" dirty="0" err="1">
                <a:latin typeface="Times New Roman" panose="02020603050405020304" pitchFamily="18" charset="0"/>
                <a:ea typeface="SamsungOne 400" panose="020B0503030303020204" charset="0"/>
              </a:rPr>
              <a:t>Telegram</a:t>
            </a:r>
            <a:r>
              <a:rPr lang="vi-VN" sz="1600" dirty="0">
                <a:latin typeface="Times New Roman" panose="02020603050405020304" pitchFamily="18" charset="0"/>
                <a:ea typeface="SamsungOne 400" panose="020B0503030303020204" charset="0"/>
              </a:rPr>
              <a:t> </a:t>
            </a:r>
            <a:r>
              <a:rPr lang="vi-VN" sz="1600" dirty="0" err="1">
                <a:latin typeface="Times New Roman" panose="02020603050405020304" pitchFamily="18" charset="0"/>
                <a:ea typeface="SamsungOne 400" panose="020B0503030303020204" charset="0"/>
              </a:rPr>
              <a:t>Bot</a:t>
            </a:r>
            <a:r>
              <a:rPr lang="vi-VN" sz="1600" dirty="0">
                <a:latin typeface="Times New Roman" panose="02020603050405020304" pitchFamily="18" charset="0"/>
                <a:ea typeface="SamsungOne 400" panose="020B0503030303020204" charset="0"/>
              </a:rPr>
              <a:t>.</a:t>
            </a:r>
            <a:endParaRPr lang="en-US" sz="1600" dirty="0">
              <a:latin typeface="Times New Roman" panose="02020603050405020304" pitchFamily="18" charset="0"/>
              <a:ea typeface="SamsungOne 400" panose="020B0503030303020204" charset="0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2603884B-751B-8DB6-8A5E-284D41700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904" y="1508612"/>
            <a:ext cx="1911487" cy="250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6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7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>
                <a:latin typeface="Times New Roman" panose="02020603050405020304" pitchFamily="18" charset="0"/>
              </a:rPr>
              <a:t>Xây dựng hệ thống API bằng Node.js/Express.</a:t>
            </a:r>
            <a:endParaRPr lang="en-US" sz="1600" dirty="0">
              <a:latin typeface="Times New Roman" panose="02020603050405020304" pitchFamily="18" charset="0"/>
            </a:endParaRPr>
          </a:p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>
                <a:latin typeface="Times New Roman" panose="02020603050405020304" pitchFamily="18" charset="0"/>
              </a:rPr>
              <a:t>Lưu trữ lịch sử cảm biến (</a:t>
            </a:r>
            <a:r>
              <a:rPr lang="vi-VN" sz="1600" dirty="0" err="1">
                <a:latin typeface="Times New Roman" panose="02020603050405020304" pitchFamily="18" charset="0"/>
              </a:rPr>
              <a:t>Telemetry</a:t>
            </a:r>
            <a:r>
              <a:rPr lang="vi-VN" sz="1600" dirty="0">
                <a:latin typeface="Times New Roman" panose="02020603050405020304" pitchFamily="18" charset="0"/>
              </a:rPr>
              <a:t>) và nhật ký sự cố (</a:t>
            </a:r>
            <a:r>
              <a:rPr lang="vi-VN" sz="1600" dirty="0" err="1">
                <a:latin typeface="Times New Roman" panose="02020603050405020304" pitchFamily="18" charset="0"/>
              </a:rPr>
              <a:t>Incident</a:t>
            </a:r>
            <a:r>
              <a:rPr lang="vi-VN" sz="1600" dirty="0">
                <a:latin typeface="Times New Roman" panose="02020603050405020304" pitchFamily="18" charset="0"/>
              </a:rPr>
              <a:t>) vào cơ sở dữ liệu </a:t>
            </a:r>
            <a:r>
              <a:rPr lang="vi-VN" sz="1600" dirty="0" err="1">
                <a:latin typeface="Times New Roman" panose="02020603050405020304" pitchFamily="18" charset="0"/>
              </a:rPr>
              <a:t>MongoDB</a:t>
            </a:r>
            <a:r>
              <a:rPr lang="vi-VN" sz="1600" dirty="0">
                <a:latin typeface="Times New Roman" panose="02020603050405020304" pitchFamily="18" charset="0"/>
              </a:rPr>
              <a:t>. 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940331B0-CDFA-6272-A8AC-A899B228B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0391" y="1508612"/>
            <a:ext cx="2108482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6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7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/>
              <a:t>Trực quan hóa dữ liệu theo thời gian thực qua </a:t>
            </a:r>
            <a:r>
              <a:rPr lang="vi-VN" sz="1600" dirty="0" err="1"/>
              <a:t>WebSocket</a:t>
            </a:r>
            <a:r>
              <a:rPr lang="vi-VN" sz="1600" dirty="0"/>
              <a:t> mà không cần tải lại trang. </a:t>
            </a:r>
            <a:endParaRPr lang="en-US" sz="1600" dirty="0"/>
          </a:p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/>
              <a:t>Đảm bảo </a:t>
            </a:r>
            <a:r>
              <a:rPr lang="vi-VN" sz="1600" dirty="0" err="1"/>
              <a:t>Type</a:t>
            </a:r>
            <a:r>
              <a:rPr lang="vi-VN" sz="1600" dirty="0"/>
              <a:t> </a:t>
            </a:r>
            <a:r>
              <a:rPr lang="vi-VN" sz="1600" dirty="0" err="1"/>
              <a:t>Safety</a:t>
            </a:r>
            <a:r>
              <a:rPr lang="vi-VN" sz="1600" dirty="0"/>
              <a:t> khi xử lý bản tin JSON từ cảm biến.</a:t>
            </a:r>
            <a:endParaRPr lang="en-US" sz="1600" dirty="0"/>
          </a:p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</a:endParaRPr>
          </a:p>
        </p:txBody>
      </p:sp>
      <p:pic>
        <p:nvPicPr>
          <p:cNvPr id="5122" name="Picture 2" descr="Telegram Bot API | Godot Asset Library">
            <a:extLst>
              <a:ext uri="{FF2B5EF4-FFF2-40B4-BE49-F238E27FC236}">
                <a16:creationId xmlns:a16="http://schemas.microsoft.com/office/drawing/2014/main" id="{8C6A1260-6C0E-ADCF-55E6-FE1E85210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9082" y="4248036"/>
            <a:ext cx="1326993" cy="1326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D7DE660-53D6-FE5D-ADA5-5259A91DA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2738" y="1530534"/>
            <a:ext cx="1859679" cy="176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6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7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dirty="0" err="1">
                <a:latin typeface="Times New Roman" panose="02020603050405020304" pitchFamily="18" charset="0"/>
              </a:rPr>
              <a:t>Telegram</a:t>
            </a:r>
            <a:r>
              <a:rPr lang="vi-VN" sz="1600" dirty="0">
                <a:latin typeface="Times New Roman" panose="02020603050405020304" pitchFamily="18" charset="0"/>
              </a:rPr>
              <a:t> </a:t>
            </a:r>
            <a:r>
              <a:rPr lang="vi-VN" sz="1600" dirty="0" err="1">
                <a:latin typeface="Times New Roman" panose="02020603050405020304" pitchFamily="18" charset="0"/>
              </a:rPr>
              <a:t>Bot</a:t>
            </a:r>
            <a:r>
              <a:rPr lang="vi-VN" sz="1600" dirty="0">
                <a:latin typeface="Times New Roman" panose="02020603050405020304" pitchFamily="18" charset="0"/>
              </a:rPr>
              <a:t>: Kênh nhận cảnh báo khẩn cấp song </a:t>
            </a:r>
            <a:r>
              <a:rPr lang="vi-VN" sz="1600" dirty="0" err="1">
                <a:latin typeface="Times New Roman" panose="02020603050405020304" pitchFamily="18" charset="0"/>
              </a:rPr>
              <a:t>song</a:t>
            </a:r>
            <a:r>
              <a:rPr lang="vi-VN" sz="1600" dirty="0">
                <a:latin typeface="Times New Roman" panose="02020603050405020304" pitchFamily="18" charset="0"/>
              </a:rPr>
              <a:t> cho người thân trên điện thoại di động.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89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15810-7186-486A-FE0F-92CBF7F65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D8A7D2-ADD7-0C98-1083-6C60DDE53C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468" y="450000"/>
            <a:ext cx="323896" cy="276871"/>
          </a:xfrm>
        </p:spPr>
        <p:txBody>
          <a:bodyPr/>
          <a:lstStyle/>
          <a:p>
            <a:r>
              <a:rPr lang="en-US" altLang="ko-KR" b="1" dirty="0">
                <a:latin typeface="Times New Roman" panose="02020603050405020304" pitchFamily="18" charset="0"/>
                <a:ea typeface="SamsungOne 400" panose="020B0503030303020204" charset="0"/>
              </a:rPr>
              <a:t>2.3</a:t>
            </a:r>
            <a:endParaRPr lang="ko-KR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8CD670-11A1-5B17-F491-8B841389D2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b="1" dirty="0" err="1"/>
              <a:t>Phát</a:t>
            </a:r>
            <a:r>
              <a:rPr lang="en-US" altLang="ko-KR" b="1" dirty="0"/>
              <a:t> </a:t>
            </a:r>
            <a:r>
              <a:rPr lang="en-US" altLang="ko-KR" b="1" dirty="0" err="1"/>
              <a:t>triển</a:t>
            </a:r>
            <a:r>
              <a:rPr lang="en-US" altLang="ko-KR" b="1" dirty="0"/>
              <a:t> AI </a:t>
            </a:r>
            <a:r>
              <a:rPr lang="en-US" altLang="ko-KR" b="1" dirty="0" err="1"/>
              <a:t>cho</a:t>
            </a:r>
            <a:r>
              <a:rPr lang="en-US" altLang="ko-KR" b="1" dirty="0"/>
              <a:t> </a:t>
            </a:r>
            <a:r>
              <a:rPr lang="en-US" altLang="ko-KR" b="1" dirty="0" err="1"/>
              <a:t>hệ</a:t>
            </a:r>
            <a:r>
              <a:rPr lang="en-US" altLang="ko-KR" b="1" dirty="0"/>
              <a:t> </a:t>
            </a:r>
            <a:r>
              <a:rPr lang="en-US" altLang="ko-KR" b="1" dirty="0" err="1"/>
              <a:t>thống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B38D3-E8C9-F06D-8ED4-49BE866147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8B789E0-29F0-3BD1-6CF7-817CFF0BEA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40666" y="480779"/>
            <a:ext cx="504933" cy="492443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pic>
        <p:nvPicPr>
          <p:cNvPr id="5125" name="Picture 5" descr="Multi-person Activity Recognition Using YOLOv8 Pose Estimation and Ensemble  Classification | Springer Nature Link">
            <a:extLst>
              <a:ext uri="{FF2B5EF4-FFF2-40B4-BE49-F238E27FC236}">
                <a16:creationId xmlns:a16="http://schemas.microsoft.com/office/drawing/2014/main" id="{FB14751A-E553-82AD-C7A7-AB7D6D99E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109" y="1391078"/>
            <a:ext cx="5006341" cy="4531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9EC32015-957D-DB91-2F53-9E6433A0E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" y="1514189"/>
            <a:ext cx="3772535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b="1" dirty="0">
                <a:latin typeface="Times New Roman" panose="02020603050405020304" pitchFamily="18" charset="0"/>
              </a:rPr>
              <a:t>Mô hình:</a:t>
            </a:r>
            <a:r>
              <a:rPr lang="vi-VN" sz="1600" dirty="0">
                <a:latin typeface="Times New Roman" panose="02020603050405020304" pitchFamily="18" charset="0"/>
              </a:rPr>
              <a:t> Sử dụng YOLOv8n-pose (định dạng ONNX) trích xuất tọa độ 17 điểm khớp xương với tốc độ đạt 25-30+ khung hình/giây.</a:t>
            </a:r>
            <a:endParaRPr lang="en-US" sz="1600" dirty="0">
              <a:latin typeface="Times New Roman" panose="02020603050405020304" pitchFamily="18" charset="0"/>
            </a:endParaRPr>
          </a:p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b="1" dirty="0">
                <a:latin typeface="Times New Roman" panose="02020603050405020304" pitchFamily="18" charset="0"/>
              </a:rPr>
              <a:t>Điều kiện xác nhận té ngã</a:t>
            </a:r>
            <a:r>
              <a:rPr lang="en-US" sz="1600" b="1" dirty="0">
                <a:latin typeface="Times New Roman" panose="02020603050405020304" pitchFamily="18" charset="0"/>
              </a:rPr>
              <a:t>:</a:t>
            </a:r>
          </a:p>
          <a:p>
            <a:pPr lvl="1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vi-VN" sz="1500" dirty="0">
                <a:latin typeface="Times New Roman" panose="02020603050405020304" pitchFamily="18" charset="0"/>
              </a:rPr>
              <a:t>Góc nghiêng thân (</a:t>
            </a:r>
            <a:r>
              <a:rPr lang="vi-VN" sz="1500" dirty="0" err="1">
                <a:latin typeface="Times New Roman" panose="02020603050405020304" pitchFamily="18" charset="0"/>
              </a:rPr>
              <a:t>Trunk</a:t>
            </a:r>
            <a:r>
              <a:rPr lang="vi-VN" sz="1500" dirty="0">
                <a:latin typeface="Times New Roman" panose="02020603050405020304" pitchFamily="18" charset="0"/>
              </a:rPr>
              <a:t> </a:t>
            </a:r>
            <a:r>
              <a:rPr lang="vi-VN" sz="1500" dirty="0" err="1">
                <a:latin typeface="Times New Roman" panose="02020603050405020304" pitchFamily="18" charset="0"/>
              </a:rPr>
              <a:t>Angle</a:t>
            </a:r>
            <a:r>
              <a:rPr lang="vi-VN" sz="1500" dirty="0">
                <a:latin typeface="Times New Roman" panose="02020603050405020304" pitchFamily="18" charset="0"/>
              </a:rPr>
              <a:t>) &gt; 60°.</a:t>
            </a:r>
            <a:endParaRPr lang="en-US" sz="1500" dirty="0">
              <a:latin typeface="Times New Roman" panose="02020603050405020304" pitchFamily="18" charset="0"/>
            </a:endParaRPr>
          </a:p>
          <a:p>
            <a:pPr lvl="1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sz="1500" dirty="0" err="1">
                <a:latin typeface="Times New Roman" panose="02020603050405020304" pitchFamily="18" charset="0"/>
              </a:rPr>
              <a:t>Tỷ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lệ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khung</a:t>
            </a:r>
            <a:r>
              <a:rPr lang="en-US" sz="1500" dirty="0">
                <a:latin typeface="Times New Roman" panose="02020603050405020304" pitchFamily="18" charset="0"/>
              </a:rPr>
              <a:t> bao (Bounding Box Ratio) &gt; 1.2.</a:t>
            </a:r>
          </a:p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b="1" dirty="0">
                <a:latin typeface="Times New Roman" panose="02020603050405020304" pitchFamily="18" charset="0"/>
              </a:rPr>
              <a:t>Cơ chế chống báo động giả:</a:t>
            </a:r>
            <a:r>
              <a:rPr lang="vi-VN" sz="1600" dirty="0">
                <a:latin typeface="Times New Roman" panose="02020603050405020304" pitchFamily="18" charset="0"/>
              </a:rPr>
              <a:t> Trạng thái té ngã phải duy trì liên tục trong 0.8 giây.</a:t>
            </a:r>
            <a:endParaRPr lang="en-US" sz="1600" dirty="0">
              <a:latin typeface="Times New Roman" panose="02020603050405020304" pitchFamily="18" charset="0"/>
            </a:endParaRPr>
          </a:p>
          <a:p>
            <a:pPr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vi-VN" sz="1600" b="1" dirty="0">
                <a:latin typeface="Times New Roman" panose="02020603050405020304" pitchFamily="18" charset="0"/>
              </a:rPr>
              <a:t>Cơ chế xác nhận an toàn (</a:t>
            </a:r>
            <a:r>
              <a:rPr lang="vi-VN" sz="1600" b="1" dirty="0" err="1">
                <a:latin typeface="Times New Roman" panose="02020603050405020304" pitchFamily="18" charset="0"/>
              </a:rPr>
              <a:t>Safe</a:t>
            </a:r>
            <a:r>
              <a:rPr lang="vi-VN" sz="1600" b="1" dirty="0">
                <a:latin typeface="Times New Roman" panose="02020603050405020304" pitchFamily="18" charset="0"/>
              </a:rPr>
              <a:t> </a:t>
            </a:r>
            <a:r>
              <a:rPr lang="vi-VN" sz="1600" b="1" dirty="0" err="1">
                <a:latin typeface="Times New Roman" panose="02020603050405020304" pitchFamily="18" charset="0"/>
              </a:rPr>
              <a:t>Recovery</a:t>
            </a:r>
            <a:r>
              <a:rPr lang="vi-VN" sz="1600" b="1" dirty="0">
                <a:latin typeface="Times New Roman" panose="02020603050405020304" pitchFamily="18" charset="0"/>
              </a:rPr>
              <a:t>):</a:t>
            </a:r>
            <a:r>
              <a:rPr lang="vi-VN" sz="1600" dirty="0">
                <a:latin typeface="Times New Roman" panose="02020603050405020304" pitchFamily="18" charset="0"/>
              </a:rPr>
              <a:t> Tự động hủy cảnh báo khi góc nghiêng &lt; 45° và tỷ lệ khung bao &lt; 1.0 duy trì liên tục 2 giây.</a:t>
            </a:r>
            <a:endParaRPr lang="en-US" sz="1600" dirty="0">
              <a:latin typeface="Times New Roman" panose="02020603050405020304" pitchFamily="18" charset="0"/>
              <a:ea typeface="SamsungOne 400" panose="020B0503030303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239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C15C5-A591-EC6E-DCF6-E79EEE68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9055EE-C672-4290-D6AC-1EA6D8DE8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468" y="450000"/>
            <a:ext cx="323896" cy="276871"/>
          </a:xfrm>
        </p:spPr>
        <p:txBody>
          <a:bodyPr/>
          <a:lstStyle/>
          <a:p>
            <a:r>
              <a:rPr lang="en-US" altLang="ko-KR" b="1" dirty="0">
                <a:latin typeface="Times New Roman" panose="02020603050405020304" pitchFamily="18" charset="0"/>
                <a:ea typeface="SamsungOne 400" panose="020B0503030303020204" charset="0"/>
              </a:rPr>
              <a:t>3.1</a:t>
            </a:r>
            <a:endParaRPr lang="ko-KR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E38E50-7A98-CC4F-CA3A-5C361F35B7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b="1" dirty="0" err="1"/>
              <a:t>Kết</a:t>
            </a:r>
            <a:r>
              <a:rPr lang="en-US" altLang="ko-KR" b="1" dirty="0"/>
              <a:t> </a:t>
            </a:r>
            <a:r>
              <a:rPr lang="en-US" altLang="ko-KR" b="1" dirty="0" err="1"/>
              <a:t>quả</a:t>
            </a:r>
            <a:r>
              <a:rPr lang="en-US" altLang="ko-KR" b="1" dirty="0"/>
              <a:t> </a:t>
            </a:r>
            <a:r>
              <a:rPr lang="en-US" altLang="ko-KR" b="1" dirty="0" err="1"/>
              <a:t>thực</a:t>
            </a:r>
            <a:r>
              <a:rPr lang="en-US" altLang="ko-KR" b="1" dirty="0"/>
              <a:t> </a:t>
            </a:r>
            <a:r>
              <a:rPr lang="en-US" altLang="ko-KR" b="1" dirty="0" err="1"/>
              <a:t>nghiệm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278B55-6BDC-9D82-94D5-96778B0364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1BBB457-82D9-C33B-19F9-7F67075C6F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40666" y="480779"/>
            <a:ext cx="504933" cy="492443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CB31AA2-6FAD-D92B-9E26-787E1A810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256" y="1342032"/>
            <a:ext cx="269013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2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3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demo:</a:t>
            </a:r>
            <a:endParaRPr lang="vi-V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966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5BB1-63DF-2B92-39EF-29E7BB3C0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527105-2757-27B8-AC24-AACFECC59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468" y="450000"/>
            <a:ext cx="323896" cy="276871"/>
          </a:xfrm>
        </p:spPr>
        <p:txBody>
          <a:bodyPr/>
          <a:lstStyle/>
          <a:p>
            <a:r>
              <a:rPr lang="en-US" altLang="ko-KR" b="1" dirty="0">
                <a:latin typeface="Times New Roman" panose="02020603050405020304" pitchFamily="18" charset="0"/>
                <a:ea typeface="SamsungOne 400" panose="020B0503030303020204" charset="0"/>
              </a:rPr>
              <a:t>3.1</a:t>
            </a:r>
            <a:endParaRPr lang="ko-KR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CF8D6C-E2AD-0319-8E6E-6B3F49BBEF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b="1" dirty="0" err="1"/>
              <a:t>Kết</a:t>
            </a:r>
            <a:r>
              <a:rPr lang="en-US" altLang="ko-KR" b="1" dirty="0"/>
              <a:t> </a:t>
            </a:r>
            <a:r>
              <a:rPr lang="en-US" altLang="ko-KR" b="1" dirty="0" err="1"/>
              <a:t>quả</a:t>
            </a:r>
            <a:r>
              <a:rPr lang="en-US" altLang="ko-KR" b="1" dirty="0"/>
              <a:t> </a:t>
            </a:r>
            <a:r>
              <a:rPr lang="en-US" altLang="ko-KR" b="1" dirty="0" err="1"/>
              <a:t>thực</a:t>
            </a:r>
            <a:r>
              <a:rPr lang="en-US" altLang="ko-KR" b="1" dirty="0"/>
              <a:t> </a:t>
            </a:r>
            <a:r>
              <a:rPr lang="en-US" altLang="ko-KR" b="1" dirty="0" err="1"/>
              <a:t>nghiệm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79CA27-1C40-6333-F25F-756E2A3463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78132CD-DE9A-1C56-2399-F643546728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40666" y="480779"/>
            <a:ext cx="504933" cy="492443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0E0242-5C25-5BDC-E165-4257FC5BA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717" y="1224374"/>
            <a:ext cx="4126108" cy="3233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1219B0-9736-0596-CC85-BFD5DE84F6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9620" r="-5315"/>
          <a:stretch>
            <a:fillRect/>
          </a:stretch>
        </p:blipFill>
        <p:spPr>
          <a:xfrm>
            <a:off x="2982720" y="1224374"/>
            <a:ext cx="2867476" cy="414745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A3DE07-438C-517A-3FEB-86074FFC3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7" y="1224374"/>
            <a:ext cx="2690132" cy="3072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4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5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Vận hành thành công mô hình YOLOv8n-Pose xử lý trực tiếp tại biên trên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Raspberry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phát hiện té ngã nhận diện tốt nhờ kết hợp ngưỡng hình học và xác nhận theo thời gian, giúp giảm thiểu báo động giả.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&lt;2s</a:t>
            </a:r>
            <a:endParaRPr lang="vi-V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092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DCAE9-F6A2-C4DF-D0FF-7F3656BA1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8327CC-9902-B8BD-84E9-237AFB0789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468" y="450000"/>
            <a:ext cx="323896" cy="276871"/>
          </a:xfrm>
        </p:spPr>
        <p:txBody>
          <a:bodyPr/>
          <a:lstStyle/>
          <a:p>
            <a:r>
              <a:rPr lang="en-US" altLang="ko-KR" b="1" dirty="0">
                <a:latin typeface="Times New Roman" panose="02020603050405020304" pitchFamily="18" charset="0"/>
                <a:ea typeface="SamsungOne 400" panose="020B0503030303020204" charset="0"/>
              </a:rPr>
              <a:t>3.2</a:t>
            </a:r>
            <a:endParaRPr lang="ko-KR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200257-08DB-2197-F356-B7FA073B4C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b="1" dirty="0" err="1"/>
              <a:t>Kết</a:t>
            </a:r>
            <a:r>
              <a:rPr lang="en-US" altLang="ko-KR" b="1" dirty="0"/>
              <a:t> </a:t>
            </a:r>
            <a:r>
              <a:rPr lang="en-US" altLang="ko-KR" b="1" dirty="0" err="1"/>
              <a:t>luận</a:t>
            </a:r>
            <a:r>
              <a:rPr lang="en-US" altLang="ko-KR" b="1" dirty="0"/>
              <a:t> &amp; </a:t>
            </a:r>
            <a:r>
              <a:rPr lang="en-US" altLang="ko-KR" b="1" dirty="0" err="1"/>
              <a:t>Hướng</a:t>
            </a:r>
            <a:r>
              <a:rPr lang="en-US" altLang="ko-KR" b="1" dirty="0"/>
              <a:t> </a:t>
            </a:r>
            <a:r>
              <a:rPr lang="en-US" altLang="ko-KR" b="1" dirty="0" err="1"/>
              <a:t>phát</a:t>
            </a:r>
            <a:r>
              <a:rPr lang="en-US" altLang="ko-KR" b="1" dirty="0"/>
              <a:t> </a:t>
            </a:r>
            <a:r>
              <a:rPr lang="en-US" altLang="ko-KR" b="1" dirty="0" err="1"/>
              <a:t>triển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AE6A06-207D-06BC-9DA2-DD75A1AD48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D5DDB45-45F2-DE2B-7652-C653082A98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40666" y="480779"/>
            <a:ext cx="494773" cy="492443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DB2FE02-FBBD-B782-1B71-3A5B09948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18" y="1246285"/>
            <a:ext cx="3408587" cy="3790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2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3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có độ ổn định cao, hoạt động liên tục nhiều giờ không bị treo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ệ thống cảnh báo đa kênh (còi tại chỗ, thông báo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kèm ảnh, cảnh báo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phản ứng tức thời khi có sự cố.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ốc độ cập nhật và độ trễ truyền dữ liệu vẫn còn phụ thuộc vào chất lượng mạng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tại khu vực lắp đặt.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0BE5CA-8A36-CAB7-BE11-02E7B16AFE4C}"/>
              </a:ext>
            </a:extLst>
          </p:cNvPr>
          <p:cNvCxnSpPr>
            <a:cxnSpLocks/>
          </p:cNvCxnSpPr>
          <p:nvPr/>
        </p:nvCxnSpPr>
        <p:spPr>
          <a:xfrm>
            <a:off x="4882243" y="1448817"/>
            <a:ext cx="0" cy="3448179"/>
          </a:xfrm>
          <a:prstGeom prst="line">
            <a:avLst/>
          </a:prstGeom>
          <a:ln>
            <a:solidFill>
              <a:srgbClr val="193EB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5E17581-50F6-CF4F-CBB8-269B2378D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635" y="1735205"/>
            <a:ext cx="5000782" cy="281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6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26469-3939-17BE-B799-A9E87222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614EE6-7D89-D32C-5E60-87D800B505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468" y="450000"/>
            <a:ext cx="323896" cy="276871"/>
          </a:xfrm>
        </p:spPr>
        <p:txBody>
          <a:bodyPr/>
          <a:lstStyle/>
          <a:p>
            <a:r>
              <a:rPr lang="en-US" altLang="ko-KR" b="1" dirty="0">
                <a:latin typeface="Times New Roman" panose="02020603050405020304" pitchFamily="18" charset="0"/>
                <a:ea typeface="SamsungOne 400" panose="020B0503030303020204" charset="0"/>
              </a:rPr>
              <a:t>3.2</a:t>
            </a:r>
            <a:endParaRPr lang="ko-KR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732559-E2B7-6B9D-C950-F970ABDC2D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b="1" dirty="0" err="1"/>
              <a:t>Kết</a:t>
            </a:r>
            <a:r>
              <a:rPr lang="en-US" altLang="ko-KR" b="1" dirty="0"/>
              <a:t> </a:t>
            </a:r>
            <a:r>
              <a:rPr lang="en-US" altLang="ko-KR" b="1" dirty="0" err="1"/>
              <a:t>luận</a:t>
            </a:r>
            <a:r>
              <a:rPr lang="en-US" altLang="ko-KR" b="1" dirty="0"/>
              <a:t> &amp; </a:t>
            </a:r>
            <a:r>
              <a:rPr lang="en-US" altLang="ko-KR" b="1" dirty="0" err="1"/>
              <a:t>Hướng</a:t>
            </a:r>
            <a:r>
              <a:rPr lang="en-US" altLang="ko-KR" b="1" dirty="0"/>
              <a:t> </a:t>
            </a:r>
            <a:r>
              <a:rPr lang="en-US" altLang="ko-KR" b="1" dirty="0" err="1"/>
              <a:t>phát</a:t>
            </a:r>
            <a:r>
              <a:rPr lang="en-US" altLang="ko-KR" b="1" dirty="0"/>
              <a:t> </a:t>
            </a:r>
            <a:r>
              <a:rPr lang="en-US" altLang="ko-KR" b="1" dirty="0" err="1"/>
              <a:t>triển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B95958-EE79-F768-4261-6F17FB26A9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521BE29-1991-EAD4-3747-BA4322D223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40666" y="480779"/>
            <a:ext cx="494773" cy="492443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2A688FE-3D5C-5348-5F2E-3F17B7B12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468" y="1219562"/>
            <a:ext cx="3408587" cy="4252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2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3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Tối ưu hóa khả năng tiêu thụ năng lượng nhằm giúp hệ thống có thể vận hành hoàn toàn độc lập.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Mở rộng tập dữ liệu thực nghiệm để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fine-tune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nhằm tối ưu hóa độ chính xác của mô hình.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Butterworth, Kalman 1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nhiễu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 thêm ứng dụng di động (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chuyên dụng để mở rộng kênh cảnh báo song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với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PCB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E8FFB9-9480-D09F-F803-0DF88D573284}"/>
              </a:ext>
            </a:extLst>
          </p:cNvPr>
          <p:cNvCxnSpPr>
            <a:cxnSpLocks/>
          </p:cNvCxnSpPr>
          <p:nvPr/>
        </p:nvCxnSpPr>
        <p:spPr>
          <a:xfrm>
            <a:off x="4882243" y="1448817"/>
            <a:ext cx="0" cy="3448179"/>
          </a:xfrm>
          <a:prstGeom prst="line">
            <a:avLst/>
          </a:prstGeom>
          <a:ln>
            <a:solidFill>
              <a:srgbClr val="193EB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050" name="Picture 2" descr="Marketing &amp; Monetizing Mobile Apps In The App Store and Google Play">
            <a:extLst>
              <a:ext uri="{FF2B5EF4-FFF2-40B4-BE49-F238E27FC236}">
                <a16:creationId xmlns:a16="http://schemas.microsoft.com/office/drawing/2014/main" id="{4F613829-19B7-9A66-7034-ADBF25AE1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968" y="1126348"/>
            <a:ext cx="2209680" cy="220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ạch PCB nhiều lớp">
            <a:extLst>
              <a:ext uri="{FF2B5EF4-FFF2-40B4-BE49-F238E27FC236}">
                <a16:creationId xmlns:a16="http://schemas.microsoft.com/office/drawing/2014/main" id="{6F17C47E-62E9-CC25-40D4-7C7830601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285" y="3735376"/>
            <a:ext cx="2702212" cy="194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926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925E4-24B2-D91C-B7B4-012C9CE5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05494E-0A95-9050-0897-3AB8811B7B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468" y="450000"/>
            <a:ext cx="323896" cy="276871"/>
          </a:xfrm>
        </p:spPr>
        <p:txBody>
          <a:bodyPr/>
          <a:lstStyle/>
          <a:p>
            <a:r>
              <a:rPr lang="en-US" altLang="ko-KR" b="1" dirty="0">
                <a:latin typeface="Times New Roman" panose="02020603050405020304" pitchFamily="18" charset="0"/>
                <a:ea typeface="SamsungOne 400" panose="020B0503030303020204" charset="0"/>
              </a:rPr>
              <a:t>3.3</a:t>
            </a:r>
            <a:endParaRPr lang="ko-KR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46C894-9ACE-9FF0-EA7E-3FE20D9B77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b="1" dirty="0"/>
              <a:t>Tài </a:t>
            </a:r>
            <a:r>
              <a:rPr lang="en-US" altLang="ko-KR" b="1" dirty="0" err="1"/>
              <a:t>liệu</a:t>
            </a:r>
            <a:r>
              <a:rPr lang="en-US" altLang="ko-KR" b="1" dirty="0"/>
              <a:t> </a:t>
            </a:r>
            <a:r>
              <a:rPr lang="en-US" altLang="ko-KR" b="1" dirty="0" err="1"/>
              <a:t>tham</a:t>
            </a:r>
            <a:r>
              <a:rPr lang="en-US" altLang="ko-KR" b="1" dirty="0"/>
              <a:t> </a:t>
            </a:r>
            <a:r>
              <a:rPr lang="en-US" altLang="ko-KR" b="1" dirty="0" err="1"/>
              <a:t>khảo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B0D1D0-218A-274F-38F2-29E98D4C14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113F9F0-AD03-E6E6-01C5-2F880BF6AC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40666" y="480779"/>
            <a:ext cx="494773" cy="492443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819F71-418D-F967-597E-9FF31EB71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471" y="1191005"/>
            <a:ext cx="9403882" cy="5098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177747" indent="-177747" algn="l" defTabSz="914126" rtl="0" eaLnBrk="1" latinLnBrk="1" hangingPunct="1">
              <a:lnSpc>
                <a:spcPts val="1800"/>
              </a:lnSpc>
              <a:spcBef>
                <a:spcPts val="1000"/>
              </a:spcBef>
              <a:buSzPct val="105000"/>
              <a:buFontTx/>
              <a:buBlip>
                <a:blip r:embed="rId2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 algn="l" defTabSz="914126" rtl="0" eaLnBrk="1" latinLnBrk="1" hangingPunct="1">
              <a:lnSpc>
                <a:spcPts val="1800"/>
              </a:lnSpc>
              <a:spcBef>
                <a:spcPts val="500"/>
              </a:spcBef>
              <a:buSzPct val="80000"/>
              <a:buFontTx/>
              <a:buBlip>
                <a:blip r:embed="rId3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  <a:lvl3pPr marL="1142657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dirty="0"/>
              <a:t>[1] Q. R. </a:t>
            </a:r>
            <a:r>
              <a:rPr lang="vi-VN" sz="1600" dirty="0" err="1"/>
              <a:t>Khawam</a:t>
            </a:r>
            <a:r>
              <a:rPr lang="vi-VN" sz="1600" dirty="0"/>
              <a:t>, M. </a:t>
            </a:r>
            <a:r>
              <a:rPr lang="vi-VN" sz="1600" dirty="0" err="1"/>
              <a:t>Al-Hashimi</a:t>
            </a:r>
            <a:r>
              <a:rPr lang="vi-VN" sz="1600" dirty="0"/>
              <a:t>, </a:t>
            </a:r>
            <a:r>
              <a:rPr lang="vi-VN" sz="1600" dirty="0" err="1"/>
              <a:t>and</a:t>
            </a:r>
            <a:r>
              <a:rPr lang="vi-VN" sz="1600" dirty="0"/>
              <a:t> S. K. </a:t>
            </a:r>
            <a:r>
              <a:rPr lang="vi-VN" sz="1600" dirty="0" err="1"/>
              <a:t>Abdulateef</a:t>
            </a:r>
            <a:r>
              <a:rPr lang="vi-VN" sz="1600" dirty="0"/>
              <a:t>, "</a:t>
            </a:r>
            <a:r>
              <a:rPr lang="vi-VN" sz="1600" dirty="0" err="1"/>
              <a:t>Real-Time</a:t>
            </a:r>
            <a:r>
              <a:rPr lang="vi-VN" sz="1600" dirty="0"/>
              <a:t> </a:t>
            </a:r>
            <a:r>
              <a:rPr lang="vi-VN" sz="1600" dirty="0" err="1"/>
              <a:t>Fall</a:t>
            </a:r>
            <a:r>
              <a:rPr lang="vi-VN" sz="1600" dirty="0"/>
              <a:t> </a:t>
            </a:r>
            <a:r>
              <a:rPr lang="vi-VN" sz="1600" dirty="0" err="1"/>
              <a:t>Detection</a:t>
            </a:r>
            <a:r>
              <a:rPr lang="vi-VN" sz="1600" dirty="0"/>
              <a:t> </a:t>
            </a:r>
            <a:r>
              <a:rPr lang="vi-VN" sz="1600" dirty="0" err="1"/>
              <a:t>for</a:t>
            </a:r>
            <a:r>
              <a:rPr lang="vi-VN" sz="1600" dirty="0"/>
              <a:t> the </a:t>
            </a:r>
            <a:r>
              <a:rPr lang="vi-VN" sz="1600" dirty="0" err="1"/>
              <a:t>Elderly</a:t>
            </a:r>
            <a:r>
              <a:rPr lang="vi-VN" sz="1600" dirty="0"/>
              <a:t> in </a:t>
            </a:r>
            <a:r>
              <a:rPr lang="vi-VN" sz="1600" dirty="0" err="1"/>
              <a:t>Home</a:t>
            </a:r>
            <a:r>
              <a:rPr lang="vi-VN" sz="1600" dirty="0"/>
              <a:t> </a:t>
            </a:r>
            <a:r>
              <a:rPr lang="vi-VN" sz="1600" dirty="0" err="1"/>
              <a:t>Settings</a:t>
            </a:r>
            <a:r>
              <a:rPr lang="vi-VN" sz="1600" dirty="0"/>
              <a:t> </a:t>
            </a:r>
            <a:r>
              <a:rPr lang="vi-VN" sz="1600" dirty="0" err="1"/>
              <a:t>Using</a:t>
            </a:r>
            <a:r>
              <a:rPr lang="vi-VN" sz="1600" dirty="0"/>
              <a:t> a </a:t>
            </a:r>
            <a:r>
              <a:rPr lang="vi-VN" sz="1600" dirty="0" err="1"/>
              <a:t>Vision-Based</a:t>
            </a:r>
            <a:r>
              <a:rPr lang="vi-VN" sz="1600" dirty="0"/>
              <a:t> YOLOv8-Pose </a:t>
            </a:r>
            <a:r>
              <a:rPr lang="vi-VN" sz="1600" dirty="0" err="1"/>
              <a:t>Model</a:t>
            </a:r>
            <a:r>
              <a:rPr lang="vi-VN" sz="1600" dirty="0"/>
              <a:t>," </a:t>
            </a:r>
            <a:r>
              <a:rPr lang="vi-VN" sz="1600" i="1" dirty="0" err="1"/>
              <a:t>Journal</a:t>
            </a:r>
            <a:r>
              <a:rPr lang="vi-VN" sz="1600" i="1" dirty="0"/>
              <a:t> </a:t>
            </a:r>
            <a:r>
              <a:rPr lang="vi-VN" sz="1600" i="1" dirty="0" err="1"/>
              <a:t>of</a:t>
            </a:r>
            <a:r>
              <a:rPr lang="vi-VN" sz="1600" i="1" dirty="0"/>
              <a:t> </a:t>
            </a:r>
            <a:r>
              <a:rPr lang="vi-VN" sz="1600" i="1" dirty="0" err="1"/>
              <a:t>Al-Qadisiyah</a:t>
            </a:r>
            <a:r>
              <a:rPr lang="vi-VN" sz="1600" i="1" dirty="0"/>
              <a:t> </a:t>
            </a:r>
            <a:r>
              <a:rPr lang="vi-VN" sz="1600" i="1" dirty="0" err="1"/>
              <a:t>for</a:t>
            </a:r>
            <a:r>
              <a:rPr lang="vi-VN" sz="1600" i="1" dirty="0"/>
              <a:t> </a:t>
            </a:r>
            <a:r>
              <a:rPr lang="vi-VN" sz="1600" i="1" dirty="0" err="1"/>
              <a:t>Computer</a:t>
            </a:r>
            <a:r>
              <a:rPr lang="vi-VN" sz="1600" i="1" dirty="0"/>
              <a:t> </a:t>
            </a:r>
            <a:r>
              <a:rPr lang="vi-VN" sz="1600" i="1" dirty="0" err="1"/>
              <a:t>Science</a:t>
            </a:r>
            <a:r>
              <a:rPr lang="vi-VN" sz="1600" i="1" dirty="0"/>
              <a:t> </a:t>
            </a:r>
            <a:r>
              <a:rPr lang="vi-VN" sz="1600" i="1" dirty="0" err="1"/>
              <a:t>and</a:t>
            </a:r>
            <a:r>
              <a:rPr lang="vi-VN" sz="1600" i="1" dirty="0"/>
              <a:t> </a:t>
            </a:r>
            <a:r>
              <a:rPr lang="vi-VN" sz="1600" i="1" dirty="0" err="1"/>
              <a:t>Mathematics</a:t>
            </a:r>
            <a:r>
              <a:rPr lang="vi-VN" sz="1600" dirty="0"/>
              <a:t>, </a:t>
            </a:r>
            <a:r>
              <a:rPr lang="vi-VN" sz="1600" dirty="0" err="1"/>
              <a:t>vol</a:t>
            </a:r>
            <a:r>
              <a:rPr lang="vi-VN" sz="1600" dirty="0"/>
              <a:t>. 17, no. 3, </a:t>
            </a:r>
            <a:r>
              <a:rPr lang="vi-VN" sz="1600" dirty="0" err="1"/>
              <a:t>pp</a:t>
            </a:r>
            <a:r>
              <a:rPr lang="vi-VN" sz="1600" dirty="0"/>
              <a:t>. 153–162, 2025, doi: 10.29304/jqcsm.2025.17.32425.</a:t>
            </a:r>
          </a:p>
          <a:p>
            <a:r>
              <a:rPr lang="vi-VN" sz="1600" dirty="0"/>
              <a:t>[2] Z. </a:t>
            </a:r>
            <a:r>
              <a:rPr lang="vi-VN" sz="1600" dirty="0" err="1"/>
              <a:t>Ye</a:t>
            </a:r>
            <a:r>
              <a:rPr lang="vi-VN" sz="1600" dirty="0"/>
              <a:t>, "</a:t>
            </a:r>
            <a:r>
              <a:rPr lang="vi-VN" sz="1600" dirty="0" err="1"/>
              <a:t>Elderly</a:t>
            </a:r>
            <a:r>
              <a:rPr lang="vi-VN" sz="1600" dirty="0"/>
              <a:t> </a:t>
            </a:r>
            <a:r>
              <a:rPr lang="vi-VN" sz="1600" dirty="0" err="1"/>
              <a:t>Fall</a:t>
            </a:r>
            <a:r>
              <a:rPr lang="vi-VN" sz="1600" dirty="0"/>
              <a:t> </a:t>
            </a:r>
            <a:r>
              <a:rPr lang="vi-VN" sz="1600" dirty="0" err="1"/>
              <a:t>Detection</a:t>
            </a:r>
            <a:r>
              <a:rPr lang="vi-VN" sz="1600" dirty="0"/>
              <a:t> </a:t>
            </a:r>
            <a:r>
              <a:rPr lang="vi-VN" sz="1600" dirty="0" err="1"/>
              <a:t>Based</a:t>
            </a:r>
            <a:r>
              <a:rPr lang="vi-VN" sz="1600" dirty="0"/>
              <a:t> </a:t>
            </a:r>
            <a:r>
              <a:rPr lang="vi-VN" sz="1600" dirty="0" err="1"/>
              <a:t>on</a:t>
            </a:r>
            <a:r>
              <a:rPr lang="vi-VN" sz="1600" dirty="0"/>
              <a:t> YOLO </a:t>
            </a:r>
            <a:r>
              <a:rPr lang="vi-VN" sz="1600" dirty="0" err="1"/>
              <a:t>and</a:t>
            </a:r>
            <a:r>
              <a:rPr lang="vi-VN" sz="1600" dirty="0"/>
              <a:t> </a:t>
            </a:r>
            <a:r>
              <a:rPr lang="vi-VN" sz="1600" dirty="0" err="1"/>
              <a:t>Pose</a:t>
            </a:r>
            <a:r>
              <a:rPr lang="vi-VN" sz="1600" dirty="0"/>
              <a:t> </a:t>
            </a:r>
            <a:r>
              <a:rPr lang="vi-VN" sz="1600" dirty="0" err="1"/>
              <a:t>Estimation</a:t>
            </a:r>
            <a:r>
              <a:rPr lang="vi-VN" sz="1600" dirty="0"/>
              <a:t>," in </a:t>
            </a:r>
            <a:r>
              <a:rPr lang="vi-VN" sz="1600" i="1" dirty="0" err="1"/>
              <a:t>Proc</a:t>
            </a:r>
            <a:r>
              <a:rPr lang="vi-VN" sz="1600" i="1" dirty="0"/>
              <a:t>. 2nd </a:t>
            </a:r>
            <a:r>
              <a:rPr lang="vi-VN" sz="1600" i="1" dirty="0" err="1"/>
              <a:t>Int</a:t>
            </a:r>
            <a:r>
              <a:rPr lang="vi-VN" sz="1600" i="1" dirty="0"/>
              <a:t>. </a:t>
            </a:r>
            <a:r>
              <a:rPr lang="vi-VN" sz="1600" i="1" dirty="0" err="1"/>
              <a:t>Conf</a:t>
            </a:r>
            <a:r>
              <a:rPr lang="vi-VN" sz="1600" i="1" dirty="0"/>
              <a:t>. </a:t>
            </a:r>
            <a:r>
              <a:rPr lang="vi-VN" sz="1600" i="1" dirty="0" err="1"/>
              <a:t>on</a:t>
            </a:r>
            <a:r>
              <a:rPr lang="vi-VN" sz="1600" i="1" dirty="0"/>
              <a:t> </a:t>
            </a:r>
            <a:r>
              <a:rPr lang="vi-VN" sz="1600" i="1" dirty="0" err="1"/>
              <a:t>Data</a:t>
            </a:r>
            <a:r>
              <a:rPr lang="vi-VN" sz="1600" i="1" dirty="0"/>
              <a:t> </a:t>
            </a:r>
            <a:r>
              <a:rPr lang="vi-VN" sz="1600" i="1" dirty="0" err="1"/>
              <a:t>Analysis</a:t>
            </a:r>
            <a:r>
              <a:rPr lang="vi-VN" sz="1600" i="1" dirty="0"/>
              <a:t> </a:t>
            </a:r>
            <a:r>
              <a:rPr lang="vi-VN" sz="1600" i="1" dirty="0" err="1"/>
              <a:t>and</a:t>
            </a:r>
            <a:r>
              <a:rPr lang="vi-VN" sz="1600" i="1" dirty="0"/>
              <a:t> </a:t>
            </a:r>
            <a:r>
              <a:rPr lang="vi-VN" sz="1600" i="1" dirty="0" err="1"/>
              <a:t>Machine</a:t>
            </a:r>
            <a:r>
              <a:rPr lang="vi-VN" sz="1600" i="1" dirty="0"/>
              <a:t> </a:t>
            </a:r>
            <a:r>
              <a:rPr lang="vi-VN" sz="1600" i="1" dirty="0" err="1"/>
              <a:t>Learning</a:t>
            </a:r>
            <a:r>
              <a:rPr lang="vi-VN" sz="1600" i="1" dirty="0"/>
              <a:t> (DAML)</a:t>
            </a:r>
            <a:r>
              <a:rPr lang="vi-VN" sz="1600" dirty="0"/>
              <a:t>, 2024, </a:t>
            </a:r>
            <a:r>
              <a:rPr lang="vi-VN" sz="1600" dirty="0" err="1"/>
              <a:t>pp</a:t>
            </a:r>
            <a:r>
              <a:rPr lang="vi-VN" sz="1600" dirty="0"/>
              <a:t>. 10–17, doi: 10.5220/0013486500004619.</a:t>
            </a:r>
          </a:p>
          <a:p>
            <a:r>
              <a:rPr lang="vi-VN" sz="1600" dirty="0"/>
              <a:t>[3] "</a:t>
            </a:r>
            <a:r>
              <a:rPr lang="vi-VN" sz="1600" dirty="0" err="1"/>
              <a:t>Research</a:t>
            </a:r>
            <a:r>
              <a:rPr lang="vi-VN" sz="1600" dirty="0"/>
              <a:t> </a:t>
            </a:r>
            <a:r>
              <a:rPr lang="vi-VN" sz="1600" dirty="0" err="1"/>
              <a:t>on</a:t>
            </a:r>
            <a:r>
              <a:rPr lang="vi-VN" sz="1600" dirty="0"/>
              <a:t> </a:t>
            </a:r>
            <a:r>
              <a:rPr lang="vi-VN" sz="1600" dirty="0" err="1"/>
              <a:t>fall</a:t>
            </a:r>
            <a:r>
              <a:rPr lang="vi-VN" sz="1600" dirty="0"/>
              <a:t> </a:t>
            </a:r>
            <a:r>
              <a:rPr lang="vi-VN" sz="1600" dirty="0" err="1"/>
              <a:t>detection</a:t>
            </a:r>
            <a:r>
              <a:rPr lang="vi-VN" sz="1600" dirty="0"/>
              <a:t> </a:t>
            </a:r>
            <a:r>
              <a:rPr lang="vi-VN" sz="1600" dirty="0" err="1"/>
              <a:t>algorithm</a:t>
            </a:r>
            <a:r>
              <a:rPr lang="vi-VN" sz="1600" dirty="0"/>
              <a:t> </a:t>
            </a:r>
            <a:r>
              <a:rPr lang="vi-VN" sz="1600" dirty="0" err="1"/>
              <a:t>for</a:t>
            </a:r>
            <a:r>
              <a:rPr lang="vi-VN" sz="1600" dirty="0"/>
              <a:t> </a:t>
            </a:r>
            <a:r>
              <a:rPr lang="vi-VN" sz="1600" dirty="0" err="1"/>
              <a:t>older</a:t>
            </a:r>
            <a:r>
              <a:rPr lang="vi-VN" sz="1600" dirty="0"/>
              <a:t> </a:t>
            </a:r>
            <a:r>
              <a:rPr lang="vi-VN" sz="1600" dirty="0" err="1"/>
              <a:t>adults</a:t>
            </a:r>
            <a:r>
              <a:rPr lang="vi-VN" sz="1600" dirty="0"/>
              <a:t> in </a:t>
            </a:r>
            <a:r>
              <a:rPr lang="vi-VN" sz="1600" dirty="0" err="1"/>
              <a:t>complex</a:t>
            </a:r>
            <a:r>
              <a:rPr lang="vi-VN" sz="1600" dirty="0"/>
              <a:t> </a:t>
            </a:r>
            <a:r>
              <a:rPr lang="vi-VN" sz="1600" dirty="0" err="1"/>
              <a:t>lighting</a:t>
            </a:r>
            <a:r>
              <a:rPr lang="vi-VN" sz="1600" dirty="0"/>
              <a:t> </a:t>
            </a:r>
            <a:r>
              <a:rPr lang="vi-VN" sz="1600" dirty="0" err="1"/>
              <a:t>environments</a:t>
            </a:r>
            <a:r>
              <a:rPr lang="vi-VN" sz="1600" dirty="0"/>
              <a:t> </a:t>
            </a:r>
            <a:r>
              <a:rPr lang="vi-VN" sz="1600" dirty="0" err="1"/>
              <a:t>based</a:t>
            </a:r>
            <a:r>
              <a:rPr lang="vi-VN" sz="1600" dirty="0"/>
              <a:t> </a:t>
            </a:r>
            <a:r>
              <a:rPr lang="vi-VN" sz="1600" dirty="0" err="1"/>
              <a:t>on</a:t>
            </a:r>
            <a:r>
              <a:rPr lang="vi-VN" sz="1600" dirty="0"/>
              <a:t> </a:t>
            </a:r>
            <a:r>
              <a:rPr lang="vi-VN" sz="1600" dirty="0" err="1"/>
              <a:t>improved</a:t>
            </a:r>
            <a:r>
              <a:rPr lang="vi-VN" sz="1600" dirty="0"/>
              <a:t> YOLOv8n," PMC, 2025. [</a:t>
            </a:r>
            <a:r>
              <a:rPr lang="vi-VN" sz="1600" dirty="0" err="1"/>
              <a:t>Online</a:t>
            </a:r>
            <a:r>
              <a:rPr lang="vi-VN" sz="1600" dirty="0"/>
              <a:t>]. </a:t>
            </a:r>
            <a:r>
              <a:rPr lang="vi-VN" sz="1600" dirty="0" err="1"/>
              <a:t>Available</a:t>
            </a:r>
            <a:r>
              <a:rPr lang="vi-VN" sz="1600" dirty="0"/>
              <a:t>: </a:t>
            </a:r>
            <a:r>
              <a:rPr lang="vi-VN" sz="1600" dirty="0">
                <a:hlinkClick r:id="rId4"/>
              </a:rPr>
              <a:t>https://pmc.ncbi.nlm.nih.gov/articles/PMC13055178/</a:t>
            </a:r>
            <a:endParaRPr lang="vi-VN" sz="1600" dirty="0"/>
          </a:p>
          <a:p>
            <a:r>
              <a:rPr lang="vi-VN" sz="1600" dirty="0"/>
              <a:t>[4] J. </a:t>
            </a:r>
            <a:r>
              <a:rPr lang="vi-VN" sz="1600" dirty="0" err="1"/>
              <a:t>Redmon</a:t>
            </a:r>
            <a:r>
              <a:rPr lang="vi-VN" sz="1600" dirty="0"/>
              <a:t>, S. </a:t>
            </a:r>
            <a:r>
              <a:rPr lang="vi-VN" sz="1600" dirty="0" err="1"/>
              <a:t>Divvala</a:t>
            </a:r>
            <a:r>
              <a:rPr lang="vi-VN" sz="1600" dirty="0"/>
              <a:t>, R. </a:t>
            </a:r>
            <a:r>
              <a:rPr lang="vi-VN" sz="1600" dirty="0" err="1"/>
              <a:t>Girshick</a:t>
            </a:r>
            <a:r>
              <a:rPr lang="vi-VN" sz="1600" dirty="0"/>
              <a:t>, </a:t>
            </a:r>
            <a:r>
              <a:rPr lang="vi-VN" sz="1600" dirty="0" err="1"/>
              <a:t>and</a:t>
            </a:r>
            <a:r>
              <a:rPr lang="vi-VN" sz="1600" dirty="0"/>
              <a:t> A. </a:t>
            </a:r>
            <a:r>
              <a:rPr lang="vi-VN" sz="1600" dirty="0" err="1"/>
              <a:t>Farhadi</a:t>
            </a:r>
            <a:r>
              <a:rPr lang="vi-VN" sz="1600" dirty="0"/>
              <a:t>, "</a:t>
            </a:r>
            <a:r>
              <a:rPr lang="vi-VN" sz="1600" dirty="0" err="1"/>
              <a:t>You</a:t>
            </a:r>
            <a:r>
              <a:rPr lang="vi-VN" sz="1600" dirty="0"/>
              <a:t> </a:t>
            </a:r>
            <a:r>
              <a:rPr lang="vi-VN" sz="1600" dirty="0" err="1"/>
              <a:t>Only</a:t>
            </a:r>
            <a:r>
              <a:rPr lang="vi-VN" sz="1600" dirty="0"/>
              <a:t> </a:t>
            </a:r>
            <a:r>
              <a:rPr lang="vi-VN" sz="1600" dirty="0" err="1"/>
              <a:t>Look</a:t>
            </a:r>
            <a:r>
              <a:rPr lang="vi-VN" sz="1600" dirty="0"/>
              <a:t> </a:t>
            </a:r>
            <a:r>
              <a:rPr lang="vi-VN" sz="1600" dirty="0" err="1"/>
              <a:t>Once</a:t>
            </a:r>
            <a:r>
              <a:rPr lang="vi-VN" sz="1600" dirty="0"/>
              <a:t>: </a:t>
            </a:r>
            <a:r>
              <a:rPr lang="vi-VN" sz="1600" dirty="0" err="1"/>
              <a:t>Unified</a:t>
            </a:r>
            <a:r>
              <a:rPr lang="vi-VN" sz="1600" dirty="0"/>
              <a:t>, </a:t>
            </a:r>
            <a:r>
              <a:rPr lang="vi-VN" sz="1600" dirty="0" err="1"/>
              <a:t>Real-Time</a:t>
            </a:r>
            <a:r>
              <a:rPr lang="vi-VN" sz="1600" dirty="0"/>
              <a:t> </a:t>
            </a:r>
            <a:r>
              <a:rPr lang="vi-VN" sz="1600" dirty="0" err="1"/>
              <a:t>Object</a:t>
            </a:r>
            <a:r>
              <a:rPr lang="vi-VN" sz="1600" dirty="0"/>
              <a:t> </a:t>
            </a:r>
            <a:r>
              <a:rPr lang="vi-VN" sz="1600" dirty="0" err="1"/>
              <a:t>Detection</a:t>
            </a:r>
            <a:r>
              <a:rPr lang="vi-VN" sz="1600" dirty="0"/>
              <a:t>," in </a:t>
            </a:r>
            <a:r>
              <a:rPr lang="vi-VN" sz="1600" i="1" dirty="0" err="1"/>
              <a:t>Proc</a:t>
            </a:r>
            <a:r>
              <a:rPr lang="vi-VN" sz="1600" i="1" dirty="0"/>
              <a:t>. IEEE </a:t>
            </a:r>
            <a:r>
              <a:rPr lang="vi-VN" sz="1600" i="1" dirty="0" err="1"/>
              <a:t>Conf</a:t>
            </a:r>
            <a:r>
              <a:rPr lang="vi-VN" sz="1600" i="1" dirty="0"/>
              <a:t>. </a:t>
            </a:r>
            <a:r>
              <a:rPr lang="vi-VN" sz="1600" i="1" dirty="0" err="1"/>
              <a:t>Comput</a:t>
            </a:r>
            <a:r>
              <a:rPr lang="vi-VN" sz="1600" i="1" dirty="0"/>
              <a:t>. </a:t>
            </a:r>
            <a:r>
              <a:rPr lang="vi-VN" sz="1600" i="1" dirty="0" err="1"/>
              <a:t>Vis</a:t>
            </a:r>
            <a:r>
              <a:rPr lang="vi-VN" sz="1600" i="1" dirty="0"/>
              <a:t>. </a:t>
            </a:r>
            <a:r>
              <a:rPr lang="vi-VN" sz="1600" i="1" dirty="0" err="1"/>
              <a:t>Pattern</a:t>
            </a:r>
            <a:r>
              <a:rPr lang="vi-VN" sz="1600" i="1" dirty="0"/>
              <a:t> </a:t>
            </a:r>
            <a:r>
              <a:rPr lang="vi-VN" sz="1600" i="1" dirty="0" err="1"/>
              <a:t>Recognit</a:t>
            </a:r>
            <a:r>
              <a:rPr lang="vi-VN" sz="1600" i="1" dirty="0"/>
              <a:t>. (CVPR)</a:t>
            </a:r>
            <a:r>
              <a:rPr lang="vi-VN" sz="1600" dirty="0"/>
              <a:t>, </a:t>
            </a:r>
            <a:r>
              <a:rPr lang="vi-VN" sz="1600" dirty="0" err="1"/>
              <a:t>Las</a:t>
            </a:r>
            <a:r>
              <a:rPr lang="vi-VN" sz="1600" dirty="0"/>
              <a:t> </a:t>
            </a:r>
            <a:r>
              <a:rPr lang="vi-VN" sz="1600" dirty="0" err="1"/>
              <a:t>Vegas</a:t>
            </a:r>
            <a:r>
              <a:rPr lang="vi-VN" sz="1600" dirty="0"/>
              <a:t>, NV, 2016, </a:t>
            </a:r>
            <a:r>
              <a:rPr lang="vi-VN" sz="1600" dirty="0" err="1"/>
              <a:t>pp</a:t>
            </a:r>
            <a:r>
              <a:rPr lang="vi-VN" sz="1600" dirty="0"/>
              <a:t>. 779–788, doi: 10.1109/CVPR.2016.91.</a:t>
            </a:r>
          </a:p>
          <a:p>
            <a:r>
              <a:rPr lang="vi-VN" sz="1600" dirty="0"/>
              <a:t>[5] G. </a:t>
            </a:r>
            <a:r>
              <a:rPr lang="vi-VN" sz="1600" dirty="0" err="1"/>
              <a:t>Jocher</a:t>
            </a:r>
            <a:r>
              <a:rPr lang="vi-VN" sz="1600" dirty="0"/>
              <a:t>, A. </a:t>
            </a:r>
            <a:r>
              <a:rPr lang="vi-VN" sz="1600" dirty="0" err="1"/>
              <a:t>Chaurasia</a:t>
            </a:r>
            <a:r>
              <a:rPr lang="vi-VN" sz="1600" dirty="0"/>
              <a:t>, </a:t>
            </a:r>
            <a:r>
              <a:rPr lang="vi-VN" sz="1600" dirty="0" err="1"/>
              <a:t>and</a:t>
            </a:r>
            <a:r>
              <a:rPr lang="vi-VN" sz="1600" dirty="0"/>
              <a:t> J. </a:t>
            </a:r>
            <a:r>
              <a:rPr lang="vi-VN" sz="1600" dirty="0" err="1"/>
              <a:t>Qiu</a:t>
            </a:r>
            <a:r>
              <a:rPr lang="vi-VN" sz="1600" dirty="0"/>
              <a:t>, "</a:t>
            </a:r>
            <a:r>
              <a:rPr lang="vi-VN" sz="1600" dirty="0" err="1"/>
              <a:t>Ultralytics</a:t>
            </a:r>
            <a:r>
              <a:rPr lang="vi-VN" sz="1600" dirty="0"/>
              <a:t> YOLOv8," </a:t>
            </a:r>
            <a:r>
              <a:rPr lang="vi-VN" sz="1600" dirty="0" err="1"/>
              <a:t>Version</a:t>
            </a:r>
            <a:r>
              <a:rPr lang="vi-VN" sz="1600" dirty="0"/>
              <a:t> 8.0.0, 2023. [</a:t>
            </a:r>
            <a:r>
              <a:rPr lang="vi-VN" sz="1600" dirty="0" err="1"/>
              <a:t>Software</a:t>
            </a:r>
            <a:r>
              <a:rPr lang="vi-VN" sz="1600" dirty="0"/>
              <a:t>]. </a:t>
            </a:r>
            <a:r>
              <a:rPr lang="vi-VN" sz="1600" dirty="0" err="1"/>
              <a:t>Available</a:t>
            </a:r>
            <a:r>
              <a:rPr lang="vi-VN" sz="1600" dirty="0"/>
              <a:t>: </a:t>
            </a:r>
            <a:r>
              <a:rPr lang="vi-VN" sz="1600" dirty="0">
                <a:hlinkClick r:id="rId5"/>
              </a:rPr>
              <a:t>https://github.com/ultralytics/ultralytics</a:t>
            </a:r>
            <a:endParaRPr lang="vi-VN" sz="1600" dirty="0"/>
          </a:p>
          <a:p>
            <a:r>
              <a:rPr lang="vi-VN" sz="1600" dirty="0"/>
              <a:t>[6] T.-Y. </a:t>
            </a:r>
            <a:r>
              <a:rPr lang="vi-VN" sz="1600" dirty="0" err="1"/>
              <a:t>Lin</a:t>
            </a:r>
            <a:r>
              <a:rPr lang="vi-VN" sz="1600" dirty="0"/>
              <a:t> </a:t>
            </a:r>
            <a:r>
              <a:rPr lang="vi-VN" sz="1600" i="1" dirty="0" err="1"/>
              <a:t>et</a:t>
            </a:r>
            <a:r>
              <a:rPr lang="vi-VN" sz="1600" i="1" dirty="0"/>
              <a:t> </a:t>
            </a:r>
            <a:r>
              <a:rPr lang="vi-VN" sz="1600" i="1" dirty="0" err="1"/>
              <a:t>al</a:t>
            </a:r>
            <a:r>
              <a:rPr lang="vi-VN" sz="1600" i="1" dirty="0"/>
              <a:t>.</a:t>
            </a:r>
            <a:r>
              <a:rPr lang="vi-VN" sz="1600" dirty="0"/>
              <a:t>, "Microsoft COCO: </a:t>
            </a:r>
            <a:r>
              <a:rPr lang="vi-VN" sz="1600" dirty="0" err="1"/>
              <a:t>Common</a:t>
            </a:r>
            <a:r>
              <a:rPr lang="vi-VN" sz="1600" dirty="0"/>
              <a:t> </a:t>
            </a:r>
            <a:r>
              <a:rPr lang="vi-VN" sz="1600" dirty="0" err="1"/>
              <a:t>Objects</a:t>
            </a:r>
            <a:r>
              <a:rPr lang="vi-VN" sz="1600" dirty="0"/>
              <a:t> in </a:t>
            </a:r>
            <a:r>
              <a:rPr lang="vi-VN" sz="1600" dirty="0" err="1"/>
              <a:t>Context</a:t>
            </a:r>
            <a:r>
              <a:rPr lang="vi-VN" sz="1600" dirty="0"/>
              <a:t>," in </a:t>
            </a:r>
            <a:r>
              <a:rPr lang="vi-VN" sz="1600" i="1" dirty="0" err="1"/>
              <a:t>Proc</a:t>
            </a:r>
            <a:r>
              <a:rPr lang="vi-VN" sz="1600" i="1" dirty="0"/>
              <a:t>. </a:t>
            </a:r>
            <a:r>
              <a:rPr lang="vi-VN" sz="1600" i="1" dirty="0" err="1"/>
              <a:t>Eur</a:t>
            </a:r>
            <a:r>
              <a:rPr lang="vi-VN" sz="1600" i="1" dirty="0"/>
              <a:t>. </a:t>
            </a:r>
            <a:r>
              <a:rPr lang="vi-VN" sz="1600" i="1" dirty="0" err="1"/>
              <a:t>Conf</a:t>
            </a:r>
            <a:r>
              <a:rPr lang="vi-VN" sz="1600" i="1" dirty="0"/>
              <a:t>. </a:t>
            </a:r>
            <a:r>
              <a:rPr lang="vi-VN" sz="1600" i="1" dirty="0" err="1"/>
              <a:t>Comput</a:t>
            </a:r>
            <a:r>
              <a:rPr lang="vi-VN" sz="1600" i="1" dirty="0"/>
              <a:t>. </a:t>
            </a:r>
            <a:r>
              <a:rPr lang="vi-VN" sz="1600" i="1" dirty="0" err="1"/>
              <a:t>Vis</a:t>
            </a:r>
            <a:r>
              <a:rPr lang="vi-VN" sz="1600" i="1" dirty="0"/>
              <a:t>. (ECCV)</a:t>
            </a:r>
            <a:r>
              <a:rPr lang="vi-VN" sz="1600" dirty="0"/>
              <a:t>, 2014, </a:t>
            </a:r>
            <a:r>
              <a:rPr lang="vi-VN" sz="1600" dirty="0" err="1"/>
              <a:t>pp</a:t>
            </a:r>
            <a:r>
              <a:rPr lang="vi-VN" sz="1600" dirty="0"/>
              <a:t>. 740–755, doi: 10.1007/978-3-319-10602-1_48.</a:t>
            </a:r>
          </a:p>
          <a:p>
            <a:r>
              <a:rPr lang="vi-VN" sz="1600" dirty="0"/>
              <a:t>[7] P. </a:t>
            </a:r>
            <a:r>
              <a:rPr lang="vi-VN" sz="1600" dirty="0" err="1"/>
              <a:t>Macheso</a:t>
            </a:r>
            <a:r>
              <a:rPr lang="vi-VN" sz="1600" dirty="0"/>
              <a:t> </a:t>
            </a:r>
            <a:r>
              <a:rPr lang="vi-VN" sz="1600" i="1" dirty="0" err="1"/>
              <a:t>et</a:t>
            </a:r>
            <a:r>
              <a:rPr lang="vi-VN" sz="1600" i="1" dirty="0"/>
              <a:t> </a:t>
            </a:r>
            <a:r>
              <a:rPr lang="vi-VN" sz="1600" i="1" dirty="0" err="1"/>
              <a:t>al</a:t>
            </a:r>
            <a:r>
              <a:rPr lang="vi-VN" sz="1600" i="1" dirty="0"/>
              <a:t>.</a:t>
            </a:r>
            <a:r>
              <a:rPr lang="vi-VN" sz="1600" dirty="0"/>
              <a:t>, "</a:t>
            </a:r>
            <a:r>
              <a:rPr lang="vi-VN" sz="1600" dirty="0" err="1"/>
              <a:t>Design</a:t>
            </a:r>
            <a:r>
              <a:rPr lang="vi-VN" sz="1600" dirty="0"/>
              <a:t> </a:t>
            </a:r>
            <a:r>
              <a:rPr lang="vi-VN" sz="1600" dirty="0" err="1"/>
              <a:t>of</a:t>
            </a:r>
            <a:r>
              <a:rPr lang="vi-VN" sz="1600" dirty="0"/>
              <a:t> ESP8266 </a:t>
            </a:r>
            <a:r>
              <a:rPr lang="vi-VN" sz="1600" dirty="0" err="1"/>
              <a:t>Smart</a:t>
            </a:r>
            <a:r>
              <a:rPr lang="vi-VN" sz="1600" dirty="0"/>
              <a:t> </a:t>
            </a:r>
            <a:r>
              <a:rPr lang="vi-VN" sz="1600" dirty="0" err="1"/>
              <a:t>Home</a:t>
            </a:r>
            <a:r>
              <a:rPr lang="vi-VN" sz="1600" dirty="0"/>
              <a:t> </a:t>
            </a:r>
            <a:r>
              <a:rPr lang="vi-VN" sz="1600" dirty="0" err="1"/>
              <a:t>Using</a:t>
            </a:r>
            <a:r>
              <a:rPr lang="vi-VN" sz="1600" dirty="0"/>
              <a:t> MQTT </a:t>
            </a:r>
            <a:r>
              <a:rPr lang="vi-VN" sz="1600" dirty="0" err="1"/>
              <a:t>and</a:t>
            </a:r>
            <a:r>
              <a:rPr lang="vi-VN" sz="1600" dirty="0"/>
              <a:t> </a:t>
            </a:r>
            <a:r>
              <a:rPr lang="vi-VN" sz="1600" dirty="0" err="1"/>
              <a:t>Node</a:t>
            </a:r>
            <a:r>
              <a:rPr lang="vi-VN" sz="1600" dirty="0"/>
              <a:t>-RED," 2021. [</a:t>
            </a:r>
            <a:r>
              <a:rPr lang="vi-VN" sz="1600" dirty="0" err="1"/>
              <a:t>Online</a:t>
            </a:r>
            <a:r>
              <a:rPr lang="vi-VN" sz="1600" dirty="0"/>
              <a:t>]. </a:t>
            </a:r>
            <a:r>
              <a:rPr lang="vi-VN" sz="1600" dirty="0" err="1"/>
              <a:t>Available</a:t>
            </a:r>
            <a:r>
              <a:rPr lang="vi-VN" sz="1600" dirty="0"/>
              <a:t>: </a:t>
            </a:r>
            <a:r>
              <a:rPr lang="vi-VN" sz="1600" dirty="0">
                <a:hlinkClick r:id="rId6"/>
              </a:rPr>
              <a:t>https://www.researchgate.net/publication/350935668</a:t>
            </a:r>
            <a:endParaRPr lang="vi-VN" sz="1600" dirty="0"/>
          </a:p>
          <a:p>
            <a:r>
              <a:rPr lang="vi-VN" sz="1600" dirty="0"/>
              <a:t>[8] R. K. </a:t>
            </a:r>
            <a:r>
              <a:rPr lang="vi-VN" sz="1600" dirty="0" err="1"/>
              <a:t>Kodali</a:t>
            </a:r>
            <a:r>
              <a:rPr lang="vi-VN" sz="1600" dirty="0"/>
              <a:t> </a:t>
            </a:r>
            <a:r>
              <a:rPr lang="vi-VN" sz="1600" dirty="0" err="1"/>
              <a:t>and</a:t>
            </a:r>
            <a:r>
              <a:rPr lang="vi-VN" sz="1600" dirty="0"/>
              <a:t> S. A. </a:t>
            </a:r>
            <a:r>
              <a:rPr lang="vi-VN" sz="1600" dirty="0" err="1"/>
              <a:t>Anjum</a:t>
            </a:r>
            <a:r>
              <a:rPr lang="vi-VN" sz="1600" dirty="0"/>
              <a:t>, "</a:t>
            </a:r>
            <a:r>
              <a:rPr lang="vi-VN" sz="1600" dirty="0" err="1"/>
              <a:t>IoT</a:t>
            </a:r>
            <a:r>
              <a:rPr lang="vi-VN" sz="1600" dirty="0"/>
              <a:t> </a:t>
            </a:r>
            <a:r>
              <a:rPr lang="vi-VN" sz="1600" dirty="0" err="1"/>
              <a:t>Based</a:t>
            </a:r>
            <a:r>
              <a:rPr lang="vi-VN" sz="1600" dirty="0"/>
              <a:t> </a:t>
            </a:r>
            <a:r>
              <a:rPr lang="vi-VN" sz="1600" dirty="0" err="1"/>
              <a:t>Home</a:t>
            </a:r>
            <a:r>
              <a:rPr lang="vi-VN" sz="1600" dirty="0"/>
              <a:t> </a:t>
            </a:r>
            <a:r>
              <a:rPr lang="vi-VN" sz="1600" dirty="0" err="1"/>
              <a:t>Automation</a:t>
            </a:r>
            <a:r>
              <a:rPr lang="vi-VN" sz="1600" dirty="0"/>
              <a:t> </a:t>
            </a:r>
            <a:r>
              <a:rPr lang="vi-VN" sz="1600" dirty="0" err="1"/>
              <a:t>Using</a:t>
            </a:r>
            <a:r>
              <a:rPr lang="vi-VN" sz="1600" dirty="0"/>
              <a:t> </a:t>
            </a:r>
            <a:r>
              <a:rPr lang="vi-VN" sz="1600" dirty="0" err="1"/>
              <a:t>Node</a:t>
            </a:r>
            <a:r>
              <a:rPr lang="vi-VN" sz="1600" dirty="0"/>
              <a:t>-RED," 2018. [</a:t>
            </a:r>
            <a:r>
              <a:rPr lang="vi-VN" sz="1600" dirty="0" err="1"/>
              <a:t>Online</a:t>
            </a:r>
            <a:r>
              <a:rPr lang="vi-VN" sz="1600" dirty="0"/>
              <a:t>]. </a:t>
            </a:r>
            <a:r>
              <a:rPr lang="vi-VN" sz="1600" dirty="0" err="1"/>
              <a:t>Available</a:t>
            </a:r>
            <a:r>
              <a:rPr lang="vi-VN" sz="1600" dirty="0"/>
              <a:t>: </a:t>
            </a:r>
            <a:r>
              <a:rPr lang="vi-VN" sz="1600" dirty="0">
                <a:hlinkClick r:id="rId7"/>
              </a:rPr>
              <a:t>https://www.researchgate.net/publication/334247955</a:t>
            </a:r>
            <a:endParaRPr lang="vi-VN" sz="1600" dirty="0"/>
          </a:p>
        </p:txBody>
      </p:sp>
    </p:spTree>
    <p:extLst>
      <p:ext uri="{BB962C8B-B14F-4D97-AF65-F5344CB8AC3E}">
        <p14:creationId xmlns:p14="http://schemas.microsoft.com/office/powerpoint/2010/main" val="3586297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BEEB8-13AF-0FAE-E395-CCC24C55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33">
            <a:extLst>
              <a:ext uri="{FF2B5EF4-FFF2-40B4-BE49-F238E27FC236}">
                <a16:creationId xmlns:a16="http://schemas.microsoft.com/office/drawing/2014/main" id="{D4517A59-6B8D-6661-48D5-8C4729C6254A}"/>
              </a:ext>
            </a:extLst>
          </p:cNvPr>
          <p:cNvSpPr/>
          <p:nvPr/>
        </p:nvSpPr>
        <p:spPr>
          <a:xfrm>
            <a:off x="191606" y="247512"/>
            <a:ext cx="85083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AI xây dựng hệ thống nhà thông minh cho người cao tuổi</a:t>
            </a:r>
            <a:endParaRPr lang="en-US" altLang="ko-KR" sz="2400" dirty="0">
              <a:solidFill>
                <a:schemeClr val="bg1"/>
              </a:solidFill>
              <a:latin typeface="Times New Roman" panose="02020603050405020304" pitchFamily="18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1A0DBE-B85F-C439-6A36-A46F592A5AF1}"/>
              </a:ext>
            </a:extLst>
          </p:cNvPr>
          <p:cNvSpPr/>
          <p:nvPr/>
        </p:nvSpPr>
        <p:spPr>
          <a:xfrm>
            <a:off x="368988" y="2524572"/>
            <a:ext cx="9164848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Thanks for your</a:t>
            </a:r>
          </a:p>
          <a:p>
            <a:pPr algn="ctr"/>
            <a:r>
              <a:rPr lang="en-US" sz="8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</a:p>
        </p:txBody>
      </p:sp>
    </p:spTree>
    <p:extLst>
      <p:ext uri="{BB962C8B-B14F-4D97-AF65-F5344CB8AC3E}">
        <p14:creationId xmlns:p14="http://schemas.microsoft.com/office/powerpoint/2010/main" val="1355731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499-25D7-4801-987E-AF7B0D65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33">
            <a:extLst>
              <a:ext uri="{FF2B5EF4-FFF2-40B4-BE49-F238E27FC236}">
                <a16:creationId xmlns:a16="http://schemas.microsoft.com/office/drawing/2014/main" id="{C1114C42-E921-B17D-5E40-A577DE09BDE0}"/>
              </a:ext>
            </a:extLst>
          </p:cNvPr>
          <p:cNvSpPr/>
          <p:nvPr/>
        </p:nvSpPr>
        <p:spPr>
          <a:xfrm>
            <a:off x="191606" y="247512"/>
            <a:ext cx="85083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AI xây dựng hệ thống nhà thông minh cho người cao tuổi</a:t>
            </a:r>
            <a:endParaRPr lang="en-US" altLang="ko-KR" sz="2400" dirty="0">
              <a:solidFill>
                <a:schemeClr val="bg1"/>
              </a:solidFill>
              <a:latin typeface="Times New Roman" panose="02020603050405020304" pitchFamily="18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D5B0A4-B744-66C7-E61D-A93ECB693054}"/>
              </a:ext>
            </a:extLst>
          </p:cNvPr>
          <p:cNvSpPr/>
          <p:nvPr/>
        </p:nvSpPr>
        <p:spPr>
          <a:xfrm>
            <a:off x="368988" y="2767280"/>
            <a:ext cx="916484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840746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20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sung">
      <a:majorFont>
        <a:latin typeface="Samsung Sharp Sans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4589</TotalTime>
  <Words>1526</Words>
  <Application>Microsoft Office PowerPoint</Application>
  <PresentationFormat>Custom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Wingdings</vt:lpstr>
      <vt:lpstr>Times New Roman</vt:lpstr>
      <vt:lpstr>Calibri</vt:lpstr>
      <vt:lpstr>Arial</vt:lpstr>
      <vt:lpstr>Samsung Sharp Sans</vt:lpstr>
      <vt:lpstr>SamsungOne 400C</vt:lpstr>
      <vt:lpstr>Malgun Gothic</vt:lpstr>
      <vt:lpstr>Office Theme</vt:lpstr>
      <vt:lpstr>Ứng dụng AI xây dựng hệ thống nhà thông minh cho người cao tuổi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Python</dc:title>
  <dc:creator>Soon Yong Chang</dc:creator>
  <cp:lastModifiedBy>Tùngg Đức</cp:lastModifiedBy>
  <cp:revision>2094</cp:revision>
  <dcterms:created xsi:type="dcterms:W3CDTF">2019-07-06T14:12:49Z</dcterms:created>
  <dcterms:modified xsi:type="dcterms:W3CDTF">2026-09-13T05:25:15Z</dcterms:modified>
</cp:coreProperties>
</file>